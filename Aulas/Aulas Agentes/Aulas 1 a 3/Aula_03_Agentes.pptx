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563" r:id="rId5"/>
    <p:sldId id="2564" r:id="rId6"/>
    <p:sldId id="2565" r:id="rId7"/>
    <p:sldId id="2566" r:id="rId8"/>
    <p:sldId id="2567" r:id="rId9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ula 03: Comunicação e Segurança na Rede" id="{96F89387-547E-4204-BBD1-D3318DB47275}">
          <p14:sldIdLst/>
        </p14:section>
        <p14:section name="Aula 03: Comunicação e Segurança na Rede" id="{23C0AA95-CB50-4B15-B835-CF4CB2889C94}">
          <p14:sldIdLst>
            <p14:sldId id="2563"/>
            <p14:sldId id="2564"/>
            <p14:sldId id="2565"/>
            <p14:sldId id="2566"/>
            <p14:sldId id="25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717F8C-AFC0-D3C8-2465-CED7B36043FA}" v="12" dt="2026-02-23T18:44:52.490"/>
    <p1510:client id="{B9753CD5-F60A-4948-B060-3C6C6BE2A5D7}" v="9" dt="2026-02-23T18:43:28.8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6DB7A-C13C-446A-B40B-A9788ECBD62C}" type="datetimeFigureOut">
              <a:t>23/02/2026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D011EB-C69B-4575-AD3E-D97E42A390C4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477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Esta aula aborda os principais pilares da comunicação segura dentro do ambiente institucional do CRAS, destacando o uso adequado de ferramentas digitais como WhatsApp Web, e-mail e práticas de proteção de dados. O objetivo da capa é introduzir o tema de forma clara e direta, reforçando ao gestor que a comunicação eficiente está diretamente ligada à segurança das informações. Nesta abertura, apresenta-se também o subtítulo “WhatsApp Web, E-mail e Proteção de Dados”, que contextualiza o foco da aula e orienta o participante sobre os conhecimentos que serão desenvolvidos ao longo do encontro. Essa abordagem ajuda a preparar mentalmente o gestor para compreender que essas ferramentas não são apenas operacionais, mas fazem parte da responsabilidade institucional que envolve segurança, privacidade e fluxo de comunicação profissional. Além disso, ao destacar esses elementos logo no início, cria-se um alinhamento entre expectativas e conteúdo, garantindo um início de aula organizado e coerente.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C82AF-BEE3-4784-B4C6-1A3F34900B20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59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O WhatsApp Web tornou-se uma ferramenta essencial nas rotinas administrativas dos gestores do CRAS, permitindo agilidade na comunicação e integração com documentos produzidos no computador. Entretanto, seu uso exige boas práticas de segurança e organização para evitar riscos e garantir produtividade. Um primeiro ponto é a conexão segura: sempre verificar se o computador é confiável, evitar conexões públicas e lembrar-se de desconectar a sessão ao final do expediente ou quando utilizar máquinas compartilhadas. Outro aspecto relevante é o envio de PDFs e relatórios diretamente do computador, facilitando o compartilhamento de documentos oficiais sem recorrer ao celular, o que otimiza o tempo e reduz erros. Por fim, a funcionalidade de fixar conversas é extremamente útil para destacar grupos ou contatos importantes da equipe, evitando perda de informações e garantindo que as prioridades estejam sempre visíveis. Esses cuidados, quando adotados, transformam o WhatsApp Web em uma ferramenta estratégica de comunicação institucional.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C82AF-BEE3-4784-B4C6-1A3F34900B20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75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O e-mail é uma ferramenta formal e, por isso, deve ser tratado como documento oficial dentro de qualquer instituição pública, incluindo o CRAS. Um e-mail bem elaborado deve conter cinco elementos essenciais: um assunto claro, que resuma o objetivo da mensagem; uma saudação adequada, demonstrando cordialidade; um texto direto e objetivo, evitando ambiguidades; o anexo conferido antes do envio, assegurando que o arquivo correto foi incluído; e uma assinatura profissional contendo nome, cargo e telefone. Esses elementos garantem clareza, responsabilidade e padronização na comunicação. Também é importante ensinar os gestores a criarem uma assinatura automática, garantindo consistência e economia de tempo no envio de mensagens. A assinatura reforça a identidade institucional e facilita o contato entre setores, além de transmitir profissionalismo e credibilidade. Assim, compreender o e-mail como documento oficial contribui para uma comunicação mais organizada, eficiente e segura.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C82AF-BEE3-4784-B4C6-1A3F34900B20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86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A segurança digital é uma responsabilidade diária do gestor, especialmente considerando que prefeituras e órgãos públicos são alvos frequentes de ataques virtuais. A frase “A prefeitura é um alvo constante de ataques. Você é a primeira linha de defesa” reforça o papel fundamental do gestor como guardião das informações sensíveis dos usuários e da instituição. Entre as práticas essenciais, destaca-se a importância de nunca compartilhar senhas — nem mesmo com colegas próximos — e evitar anotar informações de acesso em post-its colados no monitor, pois esse é um dos hábitos mais perigosos e comuns em ambientes administrativos. Além disso, gestores devem estar atentos a possíveis tentativas de phishing, e-mails suspeitos, links desconhecidos e solicitações impróprias. Ao adotar uma postura ativa de proteção, o gestor reduz significativamente os riscos de vazamento de dados, invasões e perda de informações, mantendo a integridade do sistema e a confidencialidade dos dados dos usuários atendidos.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C82AF-BEE3-4784-B4C6-1A3F34900B20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O desafio prático desta aula tem como objetivo integrar os conhecimentos adquiridos nas aulas anteriores, reforçando o uso combinado da nuvem e do e-mail institucional. A tarefa consiste em acessar o arquivo que foi previamente enviado para a nuvem na Aula 02, baixá-lo novamente para o computador e enviá-lo por e-mail para um colega, garantindo que o assunto esteja claro, profissional e coerente com o conteúdo enviado. Essa atividade promove a autonomia do gestor no manuseio de ferramentas digitais, fortalece a organização documental e estimula o cuidado com o compartilhamento seguro de arquivos. Além disso, essa prática incentiva o uso de boas normas de comunicação escrita, verificando anexos antes do envio e adotando postura responsável no envio de documentos internos. Ao realizar o desafio, o gestor desenvolve habilidades práticas que serão aplicadas no cotidiano do CRAS, aumentando a eficiência e ampliando sua competência digital.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C82AF-BEE3-4784-B4C6-1A3F34900B20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34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 com Image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rtlCol="0" anchor="t">
            <a:normAutofit/>
          </a:bodyPr>
          <a:lstStyle>
            <a:lvl1pPr>
              <a:defRPr sz="6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30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úd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rtlCol="0" anchor="b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343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com Imagem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1AAFFBF3-C898-85FC-D25A-592E29515C2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510023 w 12192000"/>
              <a:gd name="connsiteY0" fmla="*/ 505353 h 6858000"/>
              <a:gd name="connsiteX1" fmla="*/ 510023 w 12192000"/>
              <a:gd name="connsiteY1" fmla="*/ 6352647 h 6858000"/>
              <a:gd name="connsiteX2" fmla="*/ 5415398 w 12192000"/>
              <a:gd name="connsiteY2" fmla="*/ 6352647 h 6858000"/>
              <a:gd name="connsiteX3" fmla="*/ 5415398 w 12192000"/>
              <a:gd name="connsiteY3" fmla="*/ 505353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510023" y="505353"/>
                </a:moveTo>
                <a:lnTo>
                  <a:pt x="510023" y="6352647"/>
                </a:lnTo>
                <a:lnTo>
                  <a:pt x="5415398" y="6352647"/>
                </a:lnTo>
                <a:lnTo>
                  <a:pt x="5415398" y="50535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  <a:effectLst>
            <a:innerShdw blurRad="215900" dist="25400" dir="13500000">
              <a:prstClr val="black">
                <a:alpha val="15000"/>
              </a:prstClr>
            </a:innerShdw>
          </a:effectLst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297" y="1136691"/>
            <a:ext cx="4135970" cy="3038878"/>
          </a:xfrm>
        </p:spPr>
        <p:txBody>
          <a:bodyPr rtlCol="0" anchor="t">
            <a:normAutofit/>
          </a:bodyPr>
          <a:lstStyle>
            <a:lvl1pPr>
              <a:defRPr sz="44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2093" y="5282217"/>
            <a:ext cx="4136599" cy="947146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3877552" cy="365125"/>
          </a:xfrm>
        </p:spPr>
        <p:txBody>
          <a:bodyPr rtlCol="0"/>
          <a:lstStyle>
            <a:lvl1pPr>
              <a:defRPr>
                <a:solidFill>
                  <a:schemeClr val="bg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pt-br"/>
              <a:t>Exemplo 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944438" y="5162641"/>
            <a:ext cx="403082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2BEF2C1-7030-5074-0586-5EBAF7D59A33}"/>
              </a:ext>
            </a:extLst>
          </p:cNvPr>
          <p:cNvCxnSpPr>
            <a:cxnSpLocks/>
          </p:cNvCxnSpPr>
          <p:nvPr/>
        </p:nvCxnSpPr>
        <p:spPr>
          <a:xfrm>
            <a:off x="944438" y="904533"/>
            <a:ext cx="4036971" cy="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570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com Imagem 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rtlCol="0" anchor="t">
            <a:normAutofit/>
          </a:bodyPr>
          <a:lstStyle>
            <a:lvl1pPr>
              <a:defRPr sz="44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 rtlCol="0"/>
          <a:lstStyle/>
          <a:p>
            <a:pPr rtl="0"/>
            <a:r>
              <a:rPr lang="pt-br"/>
              <a:t>Modelo de Texto do Rodapé</a:t>
            </a:r>
          </a:p>
        </p:txBody>
      </p:sp>
      <p:sp>
        <p:nvSpPr>
          <p:cNvPr id="10" name="Espaço Reservado para Data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12" name="Espaço Reservado para o Número do Slide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98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com Imagem 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01" y="5056743"/>
            <a:ext cx="11339400" cy="966902"/>
          </a:xfrm>
        </p:spPr>
        <p:txBody>
          <a:bodyPr rtlCol="0" anchor="b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93091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902" y="5979576"/>
            <a:ext cx="11339400" cy="365126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F256503-7989-932D-DE04-B424AC0B97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3E99C9-C336-E83E-56A6-D68659547CA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757A77FC-B384-BD30-0961-237F594F20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83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238" y="398050"/>
            <a:ext cx="9635668" cy="367139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322" y="5669280"/>
            <a:ext cx="9620300" cy="75680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Clique para editar o estilo de subtítulo Mestre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6EBC7DB-A84C-6AE6-0446-4E466A133069}"/>
              </a:ext>
            </a:extLst>
          </p:cNvPr>
          <p:cNvCxnSpPr>
            <a:cxnSpLocks/>
          </p:cNvCxnSpPr>
          <p:nvPr/>
        </p:nvCxnSpPr>
        <p:spPr>
          <a:xfrm>
            <a:off x="530352" y="5498461"/>
            <a:ext cx="1112444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32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Clique para editar o estilo de subtítulo Mestre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752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52833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857" y="5184425"/>
            <a:ext cx="10575756" cy="115322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3817982C-A325-8307-2486-3AD646261E04}"/>
              </a:ext>
            </a:extLst>
          </p:cNvPr>
          <p:cNvCxnSpPr>
            <a:cxnSpLocks/>
          </p:cNvCxnSpPr>
          <p:nvPr/>
        </p:nvCxnSpPr>
        <p:spPr>
          <a:xfrm>
            <a:off x="533400" y="533538"/>
            <a:ext cx="11127005" cy="0"/>
          </a:xfrm>
          <a:prstGeom prst="line">
            <a:avLst/>
          </a:prstGeom>
          <a:ln w="603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C02859D-9F11-5594-CFD3-C5FDE18CACB3}"/>
              </a:ext>
            </a:extLst>
          </p:cNvPr>
          <p:cNvCxnSpPr>
            <a:cxnSpLocks/>
          </p:cNvCxnSpPr>
          <p:nvPr/>
        </p:nvCxnSpPr>
        <p:spPr>
          <a:xfrm>
            <a:off x="533400" y="5169248"/>
            <a:ext cx="11127005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6A0AD802-2887-3310-1453-789DB76F58DF}"/>
              </a:ext>
            </a:extLst>
          </p:cNvPr>
          <p:cNvCxnSpPr>
            <a:cxnSpLocks/>
          </p:cNvCxnSpPr>
          <p:nvPr/>
        </p:nvCxnSpPr>
        <p:spPr>
          <a:xfrm>
            <a:off x="533400" y="6330811"/>
            <a:ext cx="11119945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370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beçalho da 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rtlCol="0"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5431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rtlCol="0"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73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 com Image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rtlCol="0"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Espaço Reservado para Imagem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034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com Imagem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380188"/>
            <a:ext cx="4688732" cy="2313195"/>
          </a:xfrm>
        </p:spPr>
        <p:txBody>
          <a:bodyPr rtlCol="0" anchor="t">
            <a:normAutofit/>
          </a:bodyPr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8" name="Espaço Reservado para Imagem 8">
            <a:extLst>
              <a:ext uri="{FF2B5EF4-FFF2-40B4-BE49-F238E27FC236}">
                <a16:creationId xmlns:a16="http://schemas.microsoft.com/office/drawing/2014/main" id="{E6BFF2B7-0DC8-E068-0F08-D1CF291F8EA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304136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38800" y="3363190"/>
            <a:ext cx="6029721" cy="2759316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4981961-B802-677C-4957-E24CA14D5E6D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673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údo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0107B931-214A-9578-5A7A-FDEB9ADB5080}"/>
              </a:ext>
            </a:extLst>
          </p:cNvPr>
          <p:cNvCxnSpPr>
            <a:cxnSpLocks/>
          </p:cNvCxnSpPr>
          <p:nvPr/>
        </p:nvCxnSpPr>
        <p:spPr>
          <a:xfrm>
            <a:off x="3751277" y="2791386"/>
            <a:ext cx="468944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0862" y="1429789"/>
            <a:ext cx="5090277" cy="1196713"/>
          </a:xfrm>
        </p:spPr>
        <p:txBody>
          <a:bodyPr rtlCol="0" anchor="b"/>
          <a:lstStyle>
            <a:lvl1pPr algn="ctr">
              <a:defRPr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6880" y="2999629"/>
            <a:ext cx="4838241" cy="2195823"/>
          </a:xfrm>
        </p:spPr>
        <p:txBody>
          <a:bodyPr rtlCol="0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96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údo 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089" y="1673352"/>
            <a:ext cx="3360352" cy="2324365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673352"/>
            <a:ext cx="5785132" cy="2918754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45987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497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údo 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771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údo 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694944"/>
            <a:ext cx="3334120" cy="2734056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100" y="694943"/>
            <a:ext cx="7439421" cy="548640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67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86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údo 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34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údo 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433576"/>
            <a:ext cx="3263496" cy="2821439"/>
          </a:xfrm>
        </p:spPr>
        <p:txBody>
          <a:bodyPr rtlCol="0" anchor="t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9946" y="694944"/>
            <a:ext cx="7358769" cy="5486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90E8417-C758-AC09-72D4-D07CE8D5D1EB}"/>
              </a:ext>
            </a:extLst>
          </p:cNvPr>
          <p:cNvCxnSpPr>
            <a:cxnSpLocks/>
          </p:cNvCxnSpPr>
          <p:nvPr/>
        </p:nvCxnSpPr>
        <p:spPr>
          <a:xfrm>
            <a:off x="4347151" y="528489"/>
            <a:ext cx="7326605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588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 com Image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4" name="Espaço Reservado para Imagem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48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 com Imagem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2" y="691868"/>
            <a:ext cx="5593338" cy="1157316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928" y="2010699"/>
            <a:ext cx="5577972" cy="4334628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34" name="Espaço Reservado para Imagem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53200" y="533400"/>
            <a:ext cx="5105400" cy="57912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8028" y="530352"/>
            <a:ext cx="549487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815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 com Imagem 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817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 com Imagem 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193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 com Imagem 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497" y="691868"/>
            <a:ext cx="4660247" cy="1439210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6029286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497" y="2211184"/>
            <a:ext cx="4660247" cy="4113415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7095744" y="530921"/>
            <a:ext cx="456285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781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 com Imagem 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730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 com Imagem 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814" y="512011"/>
            <a:ext cx="3628786" cy="1259920"/>
          </a:xfrm>
        </p:spPr>
        <p:txBody>
          <a:bodyPr rtlCol="0" anchor="b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7086600" cy="57911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3065" y="2170611"/>
            <a:ext cx="3628786" cy="4162372"/>
          </a:xfr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29813" y="6426091"/>
            <a:ext cx="3144025" cy="365125"/>
          </a:xfrm>
        </p:spPr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8153400" y="1892587"/>
            <a:ext cx="350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635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 com Imagem 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rtlCol="0" anchor="b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695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 com Imagem 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4" name="Espaço Reservado para Imagem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 rtl="0"/>
            <a:r>
              <a:rPr lang="pt-br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18" name="Espaço Reservado para Rodapé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t-br"/>
              <a:t>Exemplo de Texto de Rodapé</a:t>
            </a:r>
          </a:p>
        </p:txBody>
      </p:sp>
      <p:sp>
        <p:nvSpPr>
          <p:cNvPr id="17" name="Espaço Reservado para Data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19" name="Espaço Reservado para o Número do Slide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401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 com Imagem 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1" y="691866"/>
            <a:ext cx="3448141" cy="2247273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19600" y="530353"/>
            <a:ext cx="7239000" cy="401911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5470" y="4735286"/>
            <a:ext cx="7239000" cy="1424879"/>
          </a:xfr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4A0C081E-1CAD-8E64-5453-4CC21A0A90FD}"/>
              </a:ext>
            </a:extLst>
          </p:cNvPr>
          <p:cNvCxnSpPr>
            <a:cxnSpLocks/>
          </p:cNvCxnSpPr>
          <p:nvPr/>
        </p:nvCxnSpPr>
        <p:spPr>
          <a:xfrm>
            <a:off x="530274" y="530352"/>
            <a:ext cx="3354124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400" y="6326367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3958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 com Imagem 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6" y="691866"/>
            <a:ext cx="3540062" cy="2247273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19600" y="533400"/>
            <a:ext cx="7239000" cy="315745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0" y="3933645"/>
            <a:ext cx="7261323" cy="2382111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4A0C081E-1CAD-8E64-5453-4CC21A0A90FD}"/>
              </a:ext>
            </a:extLst>
          </p:cNvPr>
          <p:cNvCxnSpPr>
            <a:cxnSpLocks/>
          </p:cNvCxnSpPr>
          <p:nvPr/>
        </p:nvCxnSpPr>
        <p:spPr>
          <a:xfrm>
            <a:off x="533400" y="530352"/>
            <a:ext cx="33528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400" y="6324542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FF4D8D45-8224-ED36-94DF-FAE863F412D1}"/>
              </a:ext>
            </a:extLst>
          </p:cNvPr>
          <p:cNvCxnSpPr>
            <a:cxnSpLocks/>
          </p:cNvCxnSpPr>
          <p:nvPr/>
        </p:nvCxnSpPr>
        <p:spPr>
          <a:xfrm>
            <a:off x="5013762" y="1892587"/>
            <a:ext cx="65440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44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 com Imagem 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53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 com Imagem 1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910560"/>
            <a:ext cx="3472256" cy="2017604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11125201" cy="310908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0" y="3912655"/>
            <a:ext cx="7239000" cy="2407394"/>
          </a:xfr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60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 com Imagem 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700185"/>
            <a:ext cx="3473587" cy="1815364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1" y="702280"/>
            <a:ext cx="7239000" cy="2240920"/>
          </a:xfr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3205927"/>
            <a:ext cx="11125200" cy="311867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7000" sy="97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7A9BF7A8-7F92-8C69-89EE-92496D80C1C2}"/>
              </a:ext>
            </a:extLst>
          </p:cNvPr>
          <p:cNvCxnSpPr>
            <a:cxnSpLocks/>
          </p:cNvCxnSpPr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456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 com Imagem 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43982" cy="914400"/>
          </a:xfrm>
        </p:spPr>
        <p:txBody>
          <a:bodyPr rtlCol="0" anchor="b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0352" y="1720219"/>
            <a:ext cx="6022848" cy="460438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1260" y="1623629"/>
            <a:ext cx="4557340" cy="4706251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8BAA5E08-9FB8-6BC2-0794-A92E1336B9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17819C0A-5C58-B9A1-EDD9-43A971A8DE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EC8A4CD6-C6D7-317B-80FA-CA83089B05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530352" y="1353312"/>
            <a:ext cx="11141874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033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52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 com Imagem 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12" name="Espaço Reservado para o Número do Slide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0639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úmero Gra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rtlCol="0"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Editar Texto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12" name="Espaço Reservado para Data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14" name="Espaço Reservado para o Número do Slide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729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úmero Grande 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rtlCol="0"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Editar Texto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684675"/>
            <a:ext cx="11159163" cy="4229674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897B8847-6473-457E-E96C-6389E70595B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Modelo de Texto do Rodapé</a:t>
            </a:r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397385FA-3FF0-FCCA-55E3-8E053BA2CA4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4/8/2025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E72B5E7B-6D54-E7B9-4307-C655E0BCABB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8597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532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úmero Grande 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1577" y="1673353"/>
            <a:ext cx="3287023" cy="351089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10000"/>
              </a:lnSpc>
              <a:defRPr lang="en-US" sz="2800" cap="none" baseline="0" dirty="0">
                <a:latin typeface="+mn-lt"/>
              </a:defRPr>
            </a:lvl1pPr>
          </a:lstStyle>
          <a:p>
            <a:pPr lvl="0" rtl="0"/>
            <a:r>
              <a:rPr lang="pt-br"/>
              <a:t>Clique para editar o texto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59" y="1328272"/>
            <a:ext cx="7445950" cy="4169651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237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l">
              <a:lnSpc>
                <a:spcPct val="110000"/>
              </a:lnSpc>
              <a:buNone/>
              <a:defRPr sz="2400" cap="none" baseline="0">
                <a:solidFill>
                  <a:schemeClr val="bg1"/>
                </a:solidFill>
              </a:defRPr>
            </a:lvl2pPr>
            <a:lvl3pPr marL="457200" indent="0" algn="l">
              <a:lnSpc>
                <a:spcPct val="110000"/>
              </a:lnSpc>
              <a:buNone/>
              <a:defRPr sz="2000" cap="none" baseline="0">
                <a:solidFill>
                  <a:schemeClr val="bg1"/>
                </a:solidFill>
              </a:defRPr>
            </a:lvl3pPr>
            <a:lvl4pPr marL="685800" indent="0" algn="l">
              <a:lnSpc>
                <a:spcPct val="110000"/>
              </a:lnSpc>
              <a:buNone/>
              <a:defRPr sz="1800" cap="none" baseline="0">
                <a:solidFill>
                  <a:schemeClr val="bg1"/>
                </a:solidFill>
              </a:defRPr>
            </a:lvl4pPr>
            <a:lvl5pPr marL="914400" indent="0" algn="l">
              <a:lnSpc>
                <a:spcPct val="110000"/>
              </a:lnSpc>
              <a:buNone/>
              <a:defRPr sz="1600" cap="none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446459C9-E9DA-926C-F0C0-5EEDE696077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1D02E87-8057-8AC7-6F57-2066BA1BC9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12" name="Espaço Reservado para o Número do Slide 11">
            <a:extLst>
              <a:ext uri="{FF2B5EF4-FFF2-40B4-BE49-F238E27FC236}">
                <a16:creationId xmlns:a16="http://schemas.microsoft.com/office/drawing/2014/main" id="{52EFA3D8-21DC-0E04-B4E7-4C502496DF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426DA2D-1FAE-447C-839B-22F6F0CB343E}"/>
              </a:ext>
            </a:extLst>
          </p:cNvPr>
          <p:cNvCxnSpPr>
            <a:cxnSpLocks/>
          </p:cNvCxnSpPr>
          <p:nvPr/>
        </p:nvCxnSpPr>
        <p:spPr>
          <a:xfrm>
            <a:off x="516418" y="1198471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9FD6543-37F0-7721-32E4-3B3C905CC66D}"/>
              </a:ext>
            </a:extLst>
          </p:cNvPr>
          <p:cNvCxnSpPr>
            <a:cxnSpLocks/>
          </p:cNvCxnSpPr>
          <p:nvPr/>
        </p:nvCxnSpPr>
        <p:spPr>
          <a:xfrm>
            <a:off x="530352" y="5638290"/>
            <a:ext cx="1114924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803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struçã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 rtl="0"/>
            <a:r>
              <a:rPr lang="pt-br"/>
              <a:t>Clique para editar 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4/8/2025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DD84031F-D6BF-4677-B12E-7D8B88BA70F7}" type="slidenum">
              <a:rPr lang="en-US" smtClean="0"/>
              <a:pPr rtl="0"/>
              <a:t>‹nº›</a:t>
            </a:fld>
            <a:endParaRPr lang="en-US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496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strução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0415" y="717754"/>
            <a:ext cx="10758791" cy="545815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lang="en-US" sz="7200" b="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lnSpc>
                <a:spcPct val="90000"/>
              </a:lnSpc>
              <a:spcBef>
                <a:spcPts val="1000"/>
              </a:spcBef>
              <a:buNone/>
              <a:defRPr lang="en-US" sz="6600" b="0" cap="all" baseline="0" dirty="0">
                <a:solidFill>
                  <a:schemeClr val="accent1"/>
                </a:solidFill>
                <a:latin typeface="+mj-lt"/>
              </a:defRPr>
            </a:lvl2pPr>
            <a:lvl3pPr marL="914400" indent="0">
              <a:lnSpc>
                <a:spcPct val="90000"/>
              </a:lnSpc>
              <a:spcBef>
                <a:spcPts val="1000"/>
              </a:spcBef>
              <a:buNone/>
              <a:defRPr lang="en-US" sz="6000" b="0" cap="all" baseline="0" dirty="0">
                <a:solidFill>
                  <a:schemeClr val="accent1"/>
                </a:solidFill>
                <a:latin typeface="+mj-lt"/>
              </a:defRPr>
            </a:lvl3pPr>
            <a:lvl4pPr marL="1371600" indent="0">
              <a:lnSpc>
                <a:spcPct val="90000"/>
              </a:lnSpc>
              <a:spcBef>
                <a:spcPts val="1000"/>
              </a:spcBef>
              <a:buNone/>
              <a:defRPr lang="en-US" sz="6000" b="0" cap="all" baseline="0" dirty="0">
                <a:solidFill>
                  <a:schemeClr val="accent1"/>
                </a:solidFill>
                <a:latin typeface="+mj-lt"/>
              </a:defRPr>
            </a:lvl4pPr>
            <a:lvl5pPr marL="1828800" indent="0">
              <a:lnSpc>
                <a:spcPct val="90000"/>
              </a:lnSpc>
              <a:spcBef>
                <a:spcPts val="1000"/>
              </a:spcBef>
              <a:buNone/>
              <a:defRPr lang="en-US" sz="6000" b="0" cap="all" baseline="0" dirty="0">
                <a:solidFill>
                  <a:schemeClr val="accent1"/>
                </a:solidFill>
                <a:latin typeface="+mj-lt"/>
              </a:defRPr>
            </a:lvl5pPr>
          </a:lstStyle>
          <a:p>
            <a:pPr marL="228600" lvl="0" indent="-228600" rtl="0">
              <a:lnSpc>
                <a:spcPct val="90000"/>
              </a:lnSpc>
              <a:spcBef>
                <a:spcPct val="0"/>
              </a:spcBef>
            </a:pPr>
            <a:r>
              <a:rPr lang="pt-br"/>
              <a:t>Clique para editar 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B321C58F-32A5-353B-47A2-C43DAAB8F254}"/>
              </a:ext>
            </a:extLst>
          </p:cNvPr>
          <p:cNvCxnSpPr>
            <a:cxnSpLocks/>
          </p:cNvCxnSpPr>
          <p:nvPr/>
        </p:nvCxnSpPr>
        <p:spPr>
          <a:xfrm>
            <a:off x="530352" y="530352"/>
            <a:ext cx="1112824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070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strução 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50490" y="1828806"/>
            <a:ext cx="9291020" cy="3132569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5400" b="0">
                <a:solidFill>
                  <a:schemeClr val="accent1"/>
                </a:solidFill>
              </a:defRPr>
            </a:lvl1pPr>
            <a:lvl2pPr marL="228600" indent="0" algn="ctr">
              <a:lnSpc>
                <a:spcPct val="100000"/>
              </a:lnSpc>
              <a:buNone/>
              <a:defRPr sz="4800" b="0">
                <a:solidFill>
                  <a:schemeClr val="accent1"/>
                </a:solidFill>
              </a:defRPr>
            </a:lvl2pPr>
            <a:lvl3pPr marL="457200" indent="0" algn="ctr">
              <a:lnSpc>
                <a:spcPct val="100000"/>
              </a:lnSpc>
              <a:buNone/>
              <a:defRPr sz="4400" b="0">
                <a:solidFill>
                  <a:schemeClr val="accent1"/>
                </a:solidFill>
              </a:defRPr>
            </a:lvl3pPr>
            <a:lvl4pPr marL="685800" indent="0" algn="ctr">
              <a:lnSpc>
                <a:spcPct val="100000"/>
              </a:lnSpc>
              <a:buNone/>
              <a:defRPr sz="4000" b="0">
                <a:solidFill>
                  <a:schemeClr val="accent1"/>
                </a:solidFill>
              </a:defRPr>
            </a:lvl4pPr>
            <a:lvl5pPr marL="914400" indent="0" algn="ctr">
              <a:lnSpc>
                <a:spcPct val="100000"/>
              </a:lnSpc>
              <a:buNone/>
              <a:defRPr sz="3600" b="0"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pt-br"/>
              <a:t>Clique para editar 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99661B65-925C-C474-4671-6B5CBEB80093}"/>
              </a:ext>
            </a:extLst>
          </p:cNvPr>
          <p:cNvCxnSpPr>
            <a:cxnSpLocks/>
          </p:cNvCxnSpPr>
          <p:nvPr/>
        </p:nvCxnSpPr>
        <p:spPr>
          <a:xfrm>
            <a:off x="1405629" y="1164266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59AEB70E-85D7-3389-E0B5-B0953E3D035D}"/>
              </a:ext>
            </a:extLst>
          </p:cNvPr>
          <p:cNvCxnSpPr>
            <a:cxnSpLocks/>
          </p:cNvCxnSpPr>
          <p:nvPr/>
        </p:nvCxnSpPr>
        <p:spPr>
          <a:xfrm>
            <a:off x="1399690" y="569373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622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rtlCol="0"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 para editar a citação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441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1" y="5422793"/>
            <a:ext cx="8849802" cy="763321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defRPr sz="2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5047" y="364321"/>
            <a:ext cx="8983395" cy="4379976"/>
          </a:xfrm>
        </p:spPr>
        <p:txBody>
          <a:bodyPr rtlCol="0" anchor="t">
            <a:normAutofit/>
          </a:bodyPr>
          <a:lstStyle>
            <a:lvl1pPr marL="137160" indent="-137160">
              <a:lnSpc>
                <a:spcPct val="100000"/>
              </a:lnSpc>
              <a:buNone/>
              <a:defRPr sz="5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 sz="1600" b="0" cap="all" spc="50" baseline="0">
                <a:solidFill>
                  <a:schemeClr val="tx1"/>
                </a:solidFill>
                <a:latin typeface="+mj-lt"/>
              </a:defRPr>
            </a:lvl2pPr>
            <a:lvl3pPr marL="457200" indent="0">
              <a:buNone/>
              <a:defRPr sz="1400" b="0" cap="all" spc="50" baseline="0">
                <a:solidFill>
                  <a:schemeClr val="tx1"/>
                </a:solidFill>
                <a:latin typeface="+mj-lt"/>
              </a:defRPr>
            </a:lvl3pPr>
            <a:lvl4pPr marL="685800" indent="0">
              <a:buNone/>
              <a:defRPr sz="1200" b="0" cap="all" spc="50" baseline="0">
                <a:solidFill>
                  <a:schemeClr val="tx1"/>
                </a:solidFill>
                <a:latin typeface="+mj-lt"/>
              </a:defRPr>
            </a:lvl4pPr>
            <a:lvl5pPr marL="914400" indent="0">
              <a:buNone/>
              <a:defRPr sz="1100" b="0" cap="all" spc="50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pt-br"/>
              <a:t>Clique para editar a citação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BB573913-DF3D-A336-7766-2F2A4077FA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t-br"/>
              <a:t>Modelo de Texto do Rodapé</a:t>
            </a:r>
          </a:p>
        </p:txBody>
      </p:sp>
      <p:sp>
        <p:nvSpPr>
          <p:cNvPr id="10" name="Espaço Reservado para Data 9">
            <a:extLst>
              <a:ext uri="{FF2B5EF4-FFF2-40B4-BE49-F238E27FC236}">
                <a16:creationId xmlns:a16="http://schemas.microsoft.com/office/drawing/2014/main" id="{82574524-6D35-F65F-291D-C661BC2839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12" name="Espaço Reservado para o Número do Slide 11">
            <a:extLst>
              <a:ext uri="{FF2B5EF4-FFF2-40B4-BE49-F238E27FC236}">
                <a16:creationId xmlns:a16="http://schemas.microsoft.com/office/drawing/2014/main" id="{551DEE08-81D7-3436-67E0-35E4159750B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1A1234A2-3E92-F2E2-45A7-60E39396715E}"/>
              </a:ext>
            </a:extLst>
          </p:cNvPr>
          <p:cNvCxnSpPr>
            <a:cxnSpLocks/>
          </p:cNvCxnSpPr>
          <p:nvPr/>
        </p:nvCxnSpPr>
        <p:spPr>
          <a:xfrm>
            <a:off x="530352" y="5184424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51A2847D-BCD1-DEA8-DC65-258A4946768E}"/>
              </a:ext>
            </a:extLst>
          </p:cNvPr>
          <p:cNvCxnSpPr>
            <a:cxnSpLocks/>
          </p:cNvCxnSpPr>
          <p:nvPr/>
        </p:nvCxnSpPr>
        <p:spPr>
          <a:xfrm>
            <a:off x="530352" y="6326367"/>
            <a:ext cx="1115568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6076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 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0302" y="5345083"/>
            <a:ext cx="10243537" cy="847899"/>
          </a:xfrm>
        </p:spPr>
        <p:txBody>
          <a:bodyPr rtlCol="0" anchor="ctr">
            <a:normAutofit/>
          </a:bodyPr>
          <a:lstStyle>
            <a:lvl1pPr marL="137160" indent="-137160" algn="ctr">
              <a:lnSpc>
                <a:spcPct val="110000"/>
              </a:lnSpc>
              <a:defRPr sz="1800" cap="none" baseline="0">
                <a:solidFill>
                  <a:schemeClr val="accent1"/>
                </a:solidFill>
                <a:latin typeface="+mn-lt"/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30303" y="951364"/>
            <a:ext cx="10243536" cy="379437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4400" b="0" cap="all" spc="50" baseline="0">
                <a:solidFill>
                  <a:schemeClr val="tx1"/>
                </a:solidFill>
                <a:latin typeface="+mj-lt"/>
              </a:defRPr>
            </a:lvl1pPr>
            <a:lvl2pPr marL="2286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3pPr>
            <a:lvl4pPr marL="6858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pt-br"/>
              <a:t>Clique para Editar Citação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56050A9D-B7C5-F464-79AD-0740B311B072}"/>
              </a:ext>
            </a:extLst>
          </p:cNvPr>
          <p:cNvCxnSpPr>
            <a:cxnSpLocks/>
          </p:cNvCxnSpPr>
          <p:nvPr/>
        </p:nvCxnSpPr>
        <p:spPr>
          <a:xfrm>
            <a:off x="524909" y="533400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1A1234A2-3E92-F2E2-45A7-60E39396715E}"/>
              </a:ext>
            </a:extLst>
          </p:cNvPr>
          <p:cNvCxnSpPr>
            <a:cxnSpLocks/>
          </p:cNvCxnSpPr>
          <p:nvPr/>
        </p:nvCxnSpPr>
        <p:spPr>
          <a:xfrm>
            <a:off x="516418" y="5184424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F8BEE7C-4A94-0B15-16EB-46B45E9C057E}"/>
              </a:ext>
            </a:extLst>
          </p:cNvPr>
          <p:cNvCxnSpPr>
            <a:cxnSpLocks/>
          </p:cNvCxnSpPr>
          <p:nvPr/>
        </p:nvCxnSpPr>
        <p:spPr>
          <a:xfrm>
            <a:off x="507928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788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 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30743"/>
            <a:ext cx="9472473" cy="704081"/>
          </a:xfrm>
        </p:spPr>
        <p:txBody>
          <a:bodyPr rtlCol="0"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1081377"/>
            <a:ext cx="9413534" cy="3597131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tx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 para editar a citação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Amostra de 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4/8/2025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3FD77A43-F5D0-235F-35F0-CBDFCF048764}"/>
              </a:ext>
            </a:extLst>
          </p:cNvPr>
          <p:cNvCxnSpPr>
            <a:cxnSpLocks/>
          </p:cNvCxnSpPr>
          <p:nvPr/>
        </p:nvCxnSpPr>
        <p:spPr>
          <a:xfrm>
            <a:off x="530352" y="530352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4577989-BB5F-9AF1-A65F-3B2D0FDB6368}"/>
              </a:ext>
            </a:extLst>
          </p:cNvPr>
          <p:cNvCxnSpPr>
            <a:cxnSpLocks/>
          </p:cNvCxnSpPr>
          <p:nvPr/>
        </p:nvCxnSpPr>
        <p:spPr>
          <a:xfrm>
            <a:off x="530352" y="5180630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B066E7AB-929A-6900-35D9-F1C66399874C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1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is Conteúd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rtlCol="0" anchor="b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139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a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rtlCol="0" anchor="b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013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azi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97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2BEA7-A772-B39C-F049-D8BA2D3F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36" y="694943"/>
            <a:ext cx="3915473" cy="1325880"/>
          </a:xfrm>
        </p:spPr>
        <p:txBody>
          <a:bodyPr rtlCol="0" anchor="t"/>
          <a:lstStyle>
            <a:lvl1pPr>
              <a:defRPr sz="32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D5693C4-36AD-07F9-763E-EE5FC9DFB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3072" y="2057400"/>
            <a:ext cx="3932237" cy="4176906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FB4614-4148-D757-88D0-D93E5E1EA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4943"/>
            <a:ext cx="6483096" cy="55393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AADC46-B01E-DA2E-F24C-C48F5253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71A6063-F591-A804-79FE-A80AD399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BEFF439-6DA2-A61B-C94C-BEDC2411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95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8EFA5E-0A3D-E6AD-3C21-DC40BCDE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694944"/>
            <a:ext cx="3526816" cy="1711825"/>
          </a:xfrm>
        </p:spPr>
        <p:txBody>
          <a:bodyPr rtlCol="0" anchor="t"/>
          <a:lstStyle>
            <a:lvl1pPr>
              <a:defRPr sz="32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BA8418-7980-9A18-053B-82E4F16EB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5389" y="2508261"/>
            <a:ext cx="3520528" cy="3727948"/>
          </a:xfrm>
        </p:spPr>
        <p:txBody>
          <a:bodyPr rtlCol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26F9F06-BE63-8EE7-74C5-6D0E3F9B757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419600" y="533400"/>
            <a:ext cx="7239000" cy="57911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 rtl="0"/>
            <a:r>
              <a:rPr lang="pt-br"/>
              <a:t> 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F485A3-3BFA-4B57-F6E5-5F41542B7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0AC9F0-6744-73C8-54FC-5C12BA7B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31BAB9F6-C801-466A-4C39-23DCB1CD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924215D5-0C4C-2E49-3A06-C65652576A64}"/>
              </a:ext>
            </a:extLst>
          </p:cNvPr>
          <p:cNvCxnSpPr>
            <a:cxnSpLocks/>
          </p:cNvCxnSpPr>
          <p:nvPr/>
        </p:nvCxnSpPr>
        <p:spPr>
          <a:xfrm>
            <a:off x="533400" y="533400"/>
            <a:ext cx="35037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757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rtlCol="0"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952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ão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rtlCol="0"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105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rtl="0"/>
            <a:r>
              <a:rPr lang="en-US"/>
              <a:t>4/8/2025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rtl="0"/>
            <a:fld id="{DD84031F-D6BF-4677-B12E-7D8B88BA70F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32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B6F6-070F-3295-B6F2-EC93DAE3A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/>
          <a:p>
            <a:r>
              <a:rPr lang="en-US" sz="4600"/>
              <a:t>Aula 03: </a:t>
            </a:r>
            <a:r>
              <a:rPr lang="en-US" sz="4600" err="1"/>
              <a:t>Comunicação</a:t>
            </a:r>
            <a:r>
              <a:rPr lang="en-US" sz="4600"/>
              <a:t> e </a:t>
            </a:r>
            <a:r>
              <a:rPr lang="en-US" sz="4600" err="1"/>
              <a:t>Segurança</a:t>
            </a:r>
            <a:r>
              <a:rPr lang="en-US" sz="4600"/>
              <a:t> </a:t>
            </a:r>
            <a:r>
              <a:rPr lang="en-US" sz="4600" err="1"/>
              <a:t>na</a:t>
            </a:r>
            <a:r>
              <a:rPr lang="en-US" sz="4600"/>
              <a:t> Rede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1CEE3-3996-FB64-705A-2E4695BEF11C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36526" y="2897442"/>
            <a:ext cx="6482747" cy="327983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Comunicação Segura Institucional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A comunicação eficiente no CRAS está diretamente ligada à segurança e proteção das informações institucionais.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Ferramentas Digitais Utilizadas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O uso adequado de WhatsApp Web e e-mail é fundamental para a comunicação profissional e segura dentro do CRAS.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Proteção de Dados e Privacidade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Práticas de proteção de dados garantem a privacidade e o fluxo seguro da comunicação institucional.</a:t>
            </a:r>
          </a:p>
        </p:txBody>
      </p:sp>
      <p:pic>
        <p:nvPicPr>
          <p:cNvPr id="5" name="Content Placeholder 4" descr="Segurança de rede, proteção cibernética, segurança de criptografia">
            <a:extLst>
              <a:ext uri="{FF2B5EF4-FFF2-40B4-BE49-F238E27FC236}">
                <a16:creationId xmlns:a16="http://schemas.microsoft.com/office/drawing/2014/main" id="{FA639EB6-27DB-4E34-A3C5-2D994F00529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15545" r="34455"/>
          <a:stretch>
            <a:fillRect/>
          </a:stretch>
        </p:blipFill>
        <p:spPr>
          <a:xfrm>
            <a:off x="7619999" y="10"/>
            <a:ext cx="4571999" cy="6857989"/>
          </a:xfrm>
          <a:noFill/>
        </p:spPr>
      </p:pic>
    </p:spTree>
    <p:extLst>
      <p:ext uri="{BB962C8B-B14F-4D97-AF65-F5344CB8AC3E}">
        <p14:creationId xmlns:p14="http://schemas.microsoft.com/office/powerpoint/2010/main" val="2017958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A9B1-6D38-F31E-0F56-2E5FB0BA5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814" y="512011"/>
            <a:ext cx="3628786" cy="1259920"/>
          </a:xfrm>
        </p:spPr>
        <p:txBody>
          <a:bodyPr anchor="b">
            <a:normAutofit/>
          </a:bodyPr>
          <a:lstStyle/>
          <a:p>
            <a:r>
              <a:rPr lang="en-US" sz="2700"/>
              <a:t>WhatsApp Web: Muito além do 'Bom dia'</a:t>
            </a:r>
          </a:p>
        </p:txBody>
      </p:sp>
      <p:pic>
        <p:nvPicPr>
          <p:cNvPr id="5" name="Content Placeholder 4" descr="Imagem conceitual representando a interface de mídia mosaico e o software digital. Uma parede de telas se curva para fora de vista, cintilando com uma variedade de gráficos aleatórios, animações e imagens simples de ícones.">
            <a:extLst>
              <a:ext uri="{FF2B5EF4-FFF2-40B4-BE49-F238E27FC236}">
                <a16:creationId xmlns:a16="http://schemas.microsoft.com/office/drawing/2014/main" id="{7ADA4465-4E3D-4DBF-AF6B-9669FBE5C2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7838" r="385"/>
          <a:stretch>
            <a:fillRect/>
          </a:stretch>
        </p:blipFill>
        <p:spPr>
          <a:xfrm>
            <a:off x="533400" y="533399"/>
            <a:ext cx="7086600" cy="579119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75F46-3A26-D4C6-A214-1A353A5A235A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043065" y="2170611"/>
            <a:ext cx="3628786" cy="416237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Conexão Segura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É fundamental garantir que a conexão seja segura, evitando redes públicas e desconectando sessões em computadores compartilhados.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Envio de Documentos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O envio direto de PDFs e relatórios do computador facilita a comunicação oficial e reduz erros.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Fixar Conversas Importantes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Fixar grupos e contatos essenciais ajuda a manter as prioridades visíveis e evita perda de informações.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916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B1C0-1CCA-5EDC-AEDD-1977CE094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814" y="512011"/>
            <a:ext cx="3628786" cy="1259920"/>
          </a:xfrm>
        </p:spPr>
        <p:txBody>
          <a:bodyPr anchor="b">
            <a:normAutofit/>
          </a:bodyPr>
          <a:lstStyle/>
          <a:p>
            <a:r>
              <a:rPr lang="en-US" sz="3000"/>
              <a:t>O E-mail como Documento Oficial</a:t>
            </a:r>
          </a:p>
        </p:txBody>
      </p:sp>
      <p:pic>
        <p:nvPicPr>
          <p:cNvPr id="5" name="Content Placeholder 4" descr="Formulário de login na web">
            <a:extLst>
              <a:ext uri="{FF2B5EF4-FFF2-40B4-BE49-F238E27FC236}">
                <a16:creationId xmlns:a16="http://schemas.microsoft.com/office/drawing/2014/main" id="{3DC35DA2-6F7C-47A3-84B7-CAA05424878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9799" r="4544" b="1"/>
          <a:stretch>
            <a:fillRect/>
          </a:stretch>
        </p:blipFill>
        <p:spPr>
          <a:xfrm>
            <a:off x="533400" y="533399"/>
            <a:ext cx="7086600" cy="579119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AF222-2F26-FE38-5CDF-46A9F68AFDE3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043065" y="2170611"/>
            <a:ext cx="3628786" cy="416237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Elementos Essenciais do E-mail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Um e-mail formal deve conter assunto claro, saudação cordial, texto objetivo, anexo conferido e assinatura profissional.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Importância da Assinatura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A assinatura reforça a identidade institucional, facilita o contato e transmite profissionalismo e credibilidade.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Padronização e Eficiência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Ensinar gestores a criar assinaturas automáticas promove consistência e economiza tempo no envio de mensagens.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0663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B4AAF-C4CD-3635-6E2D-F18A2E563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>
            <a:normAutofit/>
          </a:bodyPr>
          <a:lstStyle/>
          <a:p>
            <a:r>
              <a:rPr lang="en-US"/>
              <a:t>Segurança Digital: O Escudo do Gestor</a:t>
            </a:r>
          </a:p>
        </p:txBody>
      </p:sp>
      <p:pic>
        <p:nvPicPr>
          <p:cNvPr id="5" name="Content Placeholder 4" descr="Conceito de segurança digital em código de dados binário">
            <a:extLst>
              <a:ext uri="{FF2B5EF4-FFF2-40B4-BE49-F238E27FC236}">
                <a16:creationId xmlns:a16="http://schemas.microsoft.com/office/drawing/2014/main" id="{6E11F309-6D9B-44E4-8C0C-7C46E3070CE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9269" r="30402"/>
          <a:stretch>
            <a:fillRect/>
          </a:stretch>
        </p:blipFill>
        <p:spPr>
          <a:xfrm>
            <a:off x="533400" y="533399"/>
            <a:ext cx="3886200" cy="5791201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DE9DE-C7F5-4012-BEFA-2AC3E7B813AD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848555" y="2148840"/>
            <a:ext cx="6792069" cy="416237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Responsabilidade do Gestor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O gestor é a primeira linha de defesa contra ataques virtuais em órgãos públicos, protegendo informações sensíveis.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Cuidados com Senhas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Nunca compartilhe senhas ou as deixe anotadas em locais visíveis, evitando riscos comuns de segurança.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Atenção a Phishing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Esteja atento a e-mails suspeitos e links desconhecidos para prevenir ataques e invasões.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Postura Proativa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Adotar medidas preventivas reduz riscos de vazamentos e mantém a integridade dos sistemas digitais.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063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61336-E7E6-A3CA-D6B8-90B0BE81E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>
            <a:normAutofit/>
          </a:bodyPr>
          <a:lstStyle/>
          <a:p>
            <a:r>
              <a:rPr lang="en-US"/>
              <a:t>Desafio Prático 03 – Integração</a:t>
            </a:r>
          </a:p>
        </p:txBody>
      </p:sp>
      <p:pic>
        <p:nvPicPr>
          <p:cNvPr id="5" name="Content Placeholder 4" descr="Imagem conceitual do armazenamento em nuvem">
            <a:extLst>
              <a:ext uri="{FF2B5EF4-FFF2-40B4-BE49-F238E27FC236}">
                <a16:creationId xmlns:a16="http://schemas.microsoft.com/office/drawing/2014/main" id="{8DB0A523-3324-4981-B032-0F000150C59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5124" r="7771"/>
          <a:stretch>
            <a:fillRect/>
          </a:stretch>
        </p:blipFill>
        <p:spPr>
          <a:xfrm>
            <a:off x="533400" y="533399"/>
            <a:ext cx="3886200" cy="5791201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26BC3-16A0-111B-F288-7DC0D1B6E8D4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848555" y="2148840"/>
            <a:ext cx="6792069" cy="416237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Integração de Ferramentas Digitais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A atividade integra o uso da nuvem e do e-mail institucional para aprimorar a gestão de arquivos.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Organização e Segurança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Promove a organização documental e o compartilhamento seguro de arquivos entre colegas.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Comunicação Profissional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Estimula o uso de assuntos claros e postura responsável na comunicação escrita por e-mail.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Desenvolvimento de Competências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Desenvolve habilidades práticas que aumentam a eficiência e competência digital no CRAS.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1220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Linha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656B2F94-71EE-4F5F-8AB6-423A33239BAD}" vid="{CD481196-1649-4740-8CB7-70D8662C6A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9e626b82-2e62-4b56-b4f0-2eb243f478f4" xsi:nil="true"/>
    <Thumbnail xmlns="9e626b82-2e62-4b56-b4f0-2eb243f478f4" xsi:nil="true"/>
    <Vertical xmlns="9e626b82-2e62-4b56-b4f0-2eb243f478f4" xsi:nil="true"/>
    <lcf76f155ced4ddcb4097134ff3c332f xmlns="9e626b82-2e62-4b56-b4f0-2eb243f478f4">
      <Terms xmlns="http://schemas.microsoft.com/office/infopath/2007/PartnerControls"/>
    </lcf76f155ced4ddcb4097134ff3c332f>
    <Styletags_x0028_include1_x002d_3_x0029_ xmlns="9e626b82-2e62-4b56-b4f0-2eb243f478f4" xsi:nil="true"/>
    <Intent xmlns="9e626b82-2e62-4b56-b4f0-2eb243f478f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0BD21B179B1749B10B6700D890B8C6" ma:contentTypeVersion="30" ma:contentTypeDescription="Create a new document." ma:contentTypeScope="" ma:versionID="a13b221ee5b949bd1d4a5301a6f516f4">
  <xsd:schema xmlns:xsd="http://www.w3.org/2001/XMLSchema" xmlns:xs="http://www.w3.org/2001/XMLSchema" xmlns:p="http://schemas.microsoft.com/office/2006/metadata/properties" xmlns:ns1="http://schemas.microsoft.com/sharepoint/v3" xmlns:ns2="9e626b82-2e62-4b56-b4f0-2eb243f478f4" xmlns:ns3="230e9df3-be65-4c73-a93b-d1236ebd677e" xmlns:ns4="543e3375-4853-4ccc-a3e2-1512ebb9cffd" targetNamespace="http://schemas.microsoft.com/office/2006/metadata/properties" ma:root="true" ma:fieldsID="233e7f4977957a9e20bc87caea750b4e" ns1:_="" ns2:_="" ns3:_="" ns4:_="">
    <xsd:import namespace="http://schemas.microsoft.com/sharepoint/v3"/>
    <xsd:import namespace="9e626b82-2e62-4b56-b4f0-2eb243f478f4"/>
    <xsd:import namespace="230e9df3-be65-4c73-a93b-d1236ebd677e"/>
    <xsd:import namespace="543e3375-4853-4ccc-a3e2-1512ebb9c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ocTag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ystemTags" minOccurs="0"/>
                <xsd:element ref="ns2:Styletags_x0028_include1_x002d_3_x0029_" minOccurs="0"/>
                <xsd:element ref="ns2:Vertical" minOccurs="0"/>
                <xsd:element ref="ns2:Intent" minOccurs="0"/>
                <xsd:element ref="ns2:Thumbnai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26b82-2e62-4b56-b4f0-2eb243f478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3" nillable="true" ma:displayName="MediaServiceDocTags" ma:hidden="true" ma:internalName="MediaServiceDocTags" ma:readOnly="true">
      <xsd:simpleType>
        <xsd:restriction base="dms:Note"/>
      </xsd:simpleType>
    </xsd:element>
    <xsd:element name="MediaServiceDateTaken" ma:index="2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7" nillable="true" ma:displayName="MediaServiceSystemTags" ma:hidden="true" ma:internalName="MediaServiceSystemTags" ma:readOnly="true">
      <xsd:simpleType>
        <xsd:restriction base="dms:Note"/>
      </xsd:simpleType>
    </xsd:element>
    <xsd:element name="Styletags_x0028_include1_x002d_3_x0029_" ma:index="28" nillable="true" ma:displayName="Style tags (include 1 - 3)" ma:format="Dropdown" ma:internalName="Styletags_x0028_include1_x002d_3_x0029_">
      <xsd:simpleType>
        <xsd:restriction base="dms:Text">
          <xsd:maxLength value="255"/>
        </xsd:restriction>
      </xsd:simpleType>
    </xsd:element>
    <xsd:element name="Vertical" ma:index="29" nillable="true" ma:displayName="Vertical" ma:format="Dropdown" ma:internalName="Vertical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nimals &amp; pets"/>
                    <xsd:enumeration value="Art &amp; design"/>
                    <xsd:enumeration value="Beauty"/>
                    <xsd:enumeration value="Business"/>
                    <xsd:enumeration value="Fashion"/>
                    <xsd:enumeration value="Floral &amp; garden"/>
                    <xsd:enumeration value="Food &amp; drink"/>
                    <xsd:enumeration value="General"/>
                    <xsd:enumeration value="Health &amp; fitness"/>
                  </xsd:restriction>
                </xsd:simpleType>
              </xsd:element>
            </xsd:sequence>
          </xsd:extension>
        </xsd:complexContent>
      </xsd:complexType>
    </xsd:element>
    <xsd:element name="Intent" ma:index="30" nillable="true" ma:displayName="Intent" ma:format="Dropdown" ma:internalName="Inten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out me"/>
                    <xsd:enumeration value="Activism"/>
                    <xsd:enumeration value="Announcement - event"/>
                    <xsd:enumeration value="Announcement - product"/>
                    <xsd:enumeration value="Business"/>
                    <xsd:enumeration value="Celebrate - holiday"/>
                    <xsd:enumeration value="Celebrate - life moments"/>
                    <xsd:enumeration value="Engagement post"/>
                    <xsd:enumeration value="Grand opening"/>
                    <xsd:enumeration value="Marketplace"/>
                    <xsd:enumeration value="Open house"/>
                    <xsd:enumeration value="Quote"/>
                    <xsd:enumeration value="Sale"/>
                    <xsd:enumeration value="Simple phrases"/>
                    <xsd:enumeration value="Subscribe"/>
                    <xsd:enumeration value="Choice 16"/>
                  </xsd:restriction>
                </xsd:simpleType>
              </xsd:element>
            </xsd:sequence>
          </xsd:extension>
        </xsd:complexContent>
      </xsd:complexType>
    </xsd:element>
    <xsd:element name="Thumbnail" ma:index="31" nillable="true" ma:displayName="Thumbnail" ma:format="Thumbnail" ma:internalName="Thumbnail">
      <xsd:simpleType>
        <xsd:restriction base="dms:Unknown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6051309a-75b7-4c22-93ea-c24616af8dd0}" ma:internalName="TaxCatchAll" ma:showField="CatchAllData" ma:web="543e3375-4853-4ccc-a3e2-1512ebb9c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e3375-4853-4ccc-a3e2-1512ebb9cff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8251039-0B1C-45AD-BDF3-E784F1E00F4E}">
  <ds:schemaRefs>
    <ds:schemaRef ds:uri="230e9df3-be65-4c73-a93b-d1236ebd677e"/>
    <ds:schemaRef ds:uri="9e626b82-2e62-4b56-b4f0-2eb243f478f4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59009DC9-F86E-48F1-BA03-CE418953E3A2}">
  <ds:schemaRefs>
    <ds:schemaRef ds:uri="230e9df3-be65-4c73-a93b-d1236ebd677e"/>
    <ds:schemaRef ds:uri="543e3375-4853-4ccc-a3e2-1512ebb9cffd"/>
    <ds:schemaRef ds:uri="9e626b82-2e62-4b56-b4f0-2eb243f478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DDFC564-B38B-4437-B10C-2B4F696FB12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Application>Microsoft Office PowerPoint</Application>
  <PresentationFormat>Widescreen</PresentationFormat>
  <Slides>5</Slides>
  <Notes>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Linhas</vt:lpstr>
      <vt:lpstr>Aula 03: Comunicação e Segurança na Rede</vt:lpstr>
      <vt:lpstr>WhatsApp Web: Muito além do 'Bom dia'</vt:lpstr>
      <vt:lpstr>O E-mail como Documento Oficial</vt:lpstr>
      <vt:lpstr>Segurança Digital: O Escudo do Gestor</vt:lpstr>
      <vt:lpstr>Desafio Prático 03 – Integração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Niyna Spellman</dc:creator>
  <cp:revision>2</cp:revision>
  <dcterms:created xsi:type="dcterms:W3CDTF">2025-08-04T19:15:43Z</dcterms:created>
  <dcterms:modified xsi:type="dcterms:W3CDTF">2026-02-23T20:01:30Z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0x010100F70BD21B179B1749B10B6700D890B8C6</vt:lpwstr>
  </property>
  <property fmtid="{D5CDD505-2E9C-101B-9397-08002B2CF9AE}" pid="3" name="MediaServiceImageTags">
    <vt:lpwstr/>
  </property>
</Properties>
</file>