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3308" y="6353175"/>
            <a:ext cx="3545383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7B8794"/>
                </a:solidFill>
                <a:latin typeface="Inter"/>
              </a:rPr>
              <a:t>Transformando a coleta de dados em campo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50" y="2000250"/>
            <a:ext cx="3429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2279" y="2756445"/>
            <a:ext cx="7856041" cy="11105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Inter"/>
              </a:rPr>
              <a:t>Mapeamento Digital e Formulários</a:t>
            </a:r>
            <a:r>
              <a:rPr sz="3600" b="1" i="0">
                <a:solidFill>
                  <a:srgbClr val="FFFFFF"/>
                </a:solidFill>
                <a:latin typeface="Inter"/>
              </a:rPr>
              <a:t> Inteligentes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4572" y="4110781"/>
            <a:ext cx="474285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6" b="0" i="0">
                <a:solidFill>
                  <a:srgbClr val="4A90E2"/>
                </a:solidFill>
                <a:latin typeface="Inter"/>
              </a:rPr>
              <a:t>Informática para Assistentes Sociais - Aula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27685" y="304800"/>
            <a:ext cx="4936628" cy="4667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Inter"/>
              </a:rPr>
              <a:t>O fim da tabulação manual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6325"/>
            <a:ext cx="5791200" cy="5791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57325"/>
            <a:ext cx="4876800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800" y="2024806"/>
            <a:ext cx="3468141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4A90E2"/>
                </a:solidFill>
                <a:latin typeface="Inter"/>
              </a:rPr>
              <a:t>Aposentando a Prancheta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268605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600" y="2691556"/>
            <a:ext cx="5232975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Pesquisas de campo no papel exigem dias de digitação posterior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no Excel.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3486150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7450" y="3494335"/>
            <a:ext cx="5113168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O formulário digital coleta dados pelo celular e monta a planilha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sozinho.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0275" y="4286250"/>
            <a:ext cx="3048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81750" y="4297114"/>
            <a:ext cx="4775626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Chega de tentar adivinhar a letra do colega no questionário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preenchido à mão.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5191125"/>
            <a:ext cx="54864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5299918"/>
            <a:ext cx="148872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A90E2"/>
                </a:solidFill>
                <a:latin typeface="Times New Roman"/>
              </a:rPr>
              <a:t>Transformação Digital: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0927" y="5299918"/>
            <a:ext cx="357678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 A tecnologia elimina retrabalho e aumenta a precisão 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471368"/>
            <a:ext cx="168458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dados coletados em campo.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28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68700" y="304800"/>
            <a:ext cx="3454449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Perguntas estratégicas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494"/>
            <a:ext cx="4199929" cy="323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A90E2"/>
                </a:solidFill>
                <a:latin typeface="Inter"/>
              </a:rPr>
              <a:t>A Estrutura da Pesquisa Perfeita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57450"/>
            <a:ext cx="3429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2467719"/>
            <a:ext cx="4721899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Use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"Múltipla Escolha"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para padronizar dados (Ex: Bairro,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Faixa de Renda).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57550"/>
            <a:ext cx="3429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900" y="3270498"/>
            <a:ext cx="5044410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Use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"Parágrafo"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para pareceres descritivos e observações da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visita.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4067175"/>
            <a:ext cx="3524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4900" y="4073276"/>
            <a:ext cx="4196238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Torne perguntas cruciais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"Obrigatórias"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para evitar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questionários incompletos.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962525"/>
            <a:ext cx="54864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200" y="5076080"/>
            <a:ext cx="517267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B8C5D6"/>
                </a:solidFill>
                <a:latin typeface="Inter"/>
              </a:rPr>
              <a:t>Dica Importante:</a:t>
            </a:r>
            <a:r>
              <a:rPr sz="1200" b="0" i="1">
                <a:solidFill>
                  <a:srgbClr val="B8C5D6"/>
                </a:solidFill>
                <a:latin typeface="Inter"/>
              </a:rPr>
              <a:t> A configuração correta das perguntas garante dados</a:t>
            </a:r>
            <a:r>
              <a:rPr sz="1200" b="0" i="1">
                <a:solidFill>
                  <a:srgbClr val="B8C5D6"/>
                </a:solidFill>
                <a:latin typeface="Inter"/>
              </a:rPr>
              <a:t> consistentes e completos para análise posterior.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1409700"/>
            <a:ext cx="4876800" cy="4876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650" y="1657350"/>
            <a:ext cx="4391025" cy="4391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80171" y="304800"/>
            <a:ext cx="5631507" cy="4667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Inter"/>
              </a:rPr>
              <a:t>Levando a pesquisa para a rua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85950"/>
            <a:ext cx="5791200" cy="417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66950"/>
            <a:ext cx="4876800" cy="3257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800" y="2024806"/>
            <a:ext cx="2856011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4A90E2"/>
                </a:solidFill>
                <a:latin typeface="Inter"/>
              </a:rPr>
              <a:t>A Coleta no Território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2686050"/>
            <a:ext cx="171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7450" y="2691556"/>
            <a:ext cx="4970442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O questionário pode ser respondido no celular do profissional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durante a visita domiciliar.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3486150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96025" y="3494335"/>
            <a:ext cx="4898409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O link pode ser enviado via WhatsApp para o próprio usuário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preencher de casa.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4295775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81750" y="4297114"/>
            <a:ext cx="4724876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As respostas caem na nuvem em tempo real: zero risco de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perder o papel na chuva.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5191125"/>
            <a:ext cx="54864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5299918"/>
            <a:ext cx="1116210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A90E2"/>
                </a:solidFill>
                <a:latin typeface="Times New Roman"/>
              </a:rPr>
              <a:t>Mobilidade Total: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8410" y="5299918"/>
            <a:ext cx="379109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 A tecnologia permite coleta de dados em qualquer lugar, 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471368"/>
            <a:ext cx="302939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sincronização automática e segurança garantida.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28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1416" y="304800"/>
            <a:ext cx="5249167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O relatório gerencial pronto na 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44439"/>
            <a:ext cx="4663529" cy="323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A90E2"/>
                </a:solidFill>
                <a:latin typeface="Inter"/>
              </a:rPr>
              <a:t>A Mágica dos Gráficos Automáticos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90800"/>
            <a:ext cx="3429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2601664"/>
            <a:ext cx="4937849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O sistema gera gráficos coloridos automaticamente à medida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que as pessoas respondem.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404443"/>
            <a:ext cx="4896028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Perfeito para apresentar diagnósticos rápidos para a rede de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saúde ou promotoria.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00525"/>
            <a:ext cx="3429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900" y="4207222"/>
            <a:ext cx="429875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Exportação direta para o Excel com apenas um clique.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829175"/>
            <a:ext cx="54864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" y="4941986"/>
            <a:ext cx="4788693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B8C5D6"/>
                </a:solidFill>
                <a:latin typeface="Inter"/>
              </a:rPr>
              <a:t>Inteligência Instantânea:</a:t>
            </a:r>
            <a:r>
              <a:rPr sz="1200" b="0" i="1">
                <a:solidFill>
                  <a:srgbClr val="B8C5D6"/>
                </a:solidFill>
                <a:latin typeface="Inter"/>
              </a:rPr>
              <a:t> Dados transformados em visualizações</a:t>
            </a:r>
            <a:r>
              <a:rPr sz="1200" b="0" i="1">
                <a:solidFill>
                  <a:srgbClr val="B8C5D6"/>
                </a:solidFill>
                <a:latin typeface="Inter"/>
              </a:rPr>
              <a:t> profissionais sem esforço manual.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085975"/>
            <a:ext cx="5791200" cy="3676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466975"/>
            <a:ext cx="48768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28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27264" y="304800"/>
            <a:ext cx="4537471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Criando sua Primeira Pesquisa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75260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19203" y="2821632"/>
            <a:ext cx="2553592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90E2"/>
                </a:solidFill>
                <a:latin typeface="Inter"/>
              </a:rPr>
              <a:t>Desafio Prático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0" y="3543300"/>
            <a:ext cx="9029700" cy="1581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7792" y="3888432"/>
            <a:ext cx="2119907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F39C12"/>
                </a:solidFill>
                <a:latin typeface="Inter"/>
              </a:rPr>
              <a:t>Abra o Google Forms.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7700" y="3888432"/>
            <a:ext cx="2409229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FFFFFF"/>
                </a:solidFill>
                <a:latin typeface="Inter"/>
              </a:rPr>
              <a:t> Crie um formulário com: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6929" y="3888432"/>
            <a:ext cx="1613743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F39C12"/>
                </a:solidFill>
                <a:latin typeface="Inter"/>
              </a:rPr>
              <a:t>Nome da Família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0673" y="3888432"/>
            <a:ext cx="842664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FFFFFF"/>
                </a:solidFill>
                <a:latin typeface="Inter"/>
              </a:rPr>
              <a:t> (Texto),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3337" y="3888432"/>
            <a:ext cx="587871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F39C12"/>
                </a:solidFill>
                <a:latin typeface="Inter"/>
              </a:rPr>
              <a:t>Bairro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4011" y="4210347"/>
            <a:ext cx="1927919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FFFFFF"/>
                </a:solidFill>
                <a:latin typeface="Inter"/>
              </a:rPr>
              <a:t>(Múltipla Escolha) 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1931" y="4210347"/>
            <a:ext cx="1824335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F39C12"/>
                </a:solidFill>
                <a:latin typeface="Inter"/>
              </a:rPr>
              <a:t>Recebe Benefício?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6266" y="4210347"/>
            <a:ext cx="4308723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FFFFFF"/>
                </a:solidFill>
                <a:latin typeface="Inter"/>
              </a:rPr>
              <a:t> (Sim/Não). Envie o link para o colega ao 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7843" y="4532262"/>
            <a:ext cx="1033313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FFFFFF"/>
                </a:solidFill>
                <a:latin typeface="Inter"/>
              </a:rPr>
              <a:t>preencher!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5172075"/>
            <a:ext cx="2943225" cy="1085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5562600"/>
            <a:ext cx="21907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0785" y="5578673"/>
            <a:ext cx="140374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Inter"/>
              </a:rPr>
              <a:t>Vamos Começar!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