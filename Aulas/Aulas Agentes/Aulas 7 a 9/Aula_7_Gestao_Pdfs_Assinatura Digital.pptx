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48" r:id="rId1"/>
  </p:sldMasterIdLst>
  <p:sldIdLst>
    <p:sldId id="256" r:id="rId7"/>
    <p:sldId id="257" r:id="rId16"/>
    <p:sldId id="258" r:id="rId17"/>
    <p:sldId id="259" r:id="rId18"/>
    <p:sldId id="260" r:id="rId19"/>
    <p:sldId id="261" r:id="rId20"/>
  </p:sldIdLst>
  <p:sldSz cx="12192000" cy="6858000" type="screen4x3"/>
  <p:notesSz cx="6858000" cy="9144000"/>
  <p:embeddedFontLst>
    <p:embeddedFont>
      <p:font typeface="Open Sans" pitchFamily="2" charset="0"/>
      <p:regular r:id="rId11"/>
      <p:bold r:id="rId8"/>
      <p:italic r:id="rId10"/>
      <p:boldItalic r:id="rId9"/>
    </p:embeddedFont>
    <p:embeddedFont>
      <p:font typeface="Montserrat" pitchFamily="2" charset="0"/>
      <p:regular r:id="rId15"/>
      <p:bold r:id="rId12"/>
      <p:italic r:id="rId14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Relationship Id="rId14" Type="http://schemas.openxmlformats.org/officeDocument/2006/relationships/font" Target="fonts/font7.fntdata"/><Relationship Id="rId15" Type="http://schemas.openxmlformats.org/officeDocument/2006/relationships/font" Target="fonts/font8.fntdata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4550" y="1943100"/>
            <a:ext cx="3429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96801" y="2722661"/>
            <a:ext cx="8842236" cy="11281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40" b="1" i="0">
                <a:solidFill>
                  <a:srgbClr val="FFFFFF"/>
                </a:solidFill>
                <a:latin typeface="Montserrat"/>
              </a:rPr>
              <a:t>Descomplicando PDFs e Assinaturas</a:t>
            </a:r>
            <a:r>
              <a:rPr sz="3840" b="1" i="0">
                <a:solidFill>
                  <a:srgbClr val="FFFFFF"/>
                </a:solidFill>
                <a:latin typeface="Montserrat"/>
              </a:rPr>
              <a:t> Digitais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18557" y="4093071"/>
            <a:ext cx="5754737" cy="3714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>
                <a:solidFill>
                  <a:srgbClr val="7FB3D3"/>
                </a:solidFill>
                <a:latin typeface="Open Sans"/>
              </a:rPr>
              <a:t>Informática para Assistentes Sociais - Aula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4413" y="5981700"/>
            <a:ext cx="3483173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FB3D3"/>
                </a:solidFill>
                <a:latin typeface="Open Sans"/>
              </a:rPr>
              <a:t>CRAS - Centro de Referência de Assistência Social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88259" y="6267450"/>
            <a:ext cx="2415331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FB3D3"/>
                </a:solidFill>
                <a:latin typeface="Open Sans"/>
              </a:rPr>
              <a:t>Capacitação em Tecnologia Digital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99483" y="304800"/>
            <a:ext cx="3793033" cy="3714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FFD700"/>
                </a:solidFill>
                <a:latin typeface="Montserrat"/>
              </a:rPr>
              <a:t>O Novo Papel Timbrado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847850"/>
            <a:ext cx="5791200" cy="415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228850"/>
            <a:ext cx="4876800" cy="3238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1200" y="1857375"/>
            <a:ext cx="5943600" cy="398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57900" y="2087314"/>
            <a:ext cx="4572148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FFD700"/>
                </a:solidFill>
                <a:latin typeface="Montserrat"/>
              </a:rPr>
              <a:t>Por que tudo tem que ser em PDF?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7900" y="2724150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62700" y="2725489"/>
            <a:ext cx="5133707" cy="4966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Open Sans"/>
              </a:rPr>
              <a:t>O PDF </a:t>
            </a:r>
            <a:r>
              <a:rPr sz="1320" b="1" i="0">
                <a:solidFill>
                  <a:srgbClr val="FFFFFF"/>
                </a:solidFill>
                <a:latin typeface="Open Sans"/>
              </a:rPr>
              <a:t> congela o documento</a:t>
            </a:r>
            <a:r>
              <a:rPr sz="1320" b="0" i="0">
                <a:solidFill>
                  <a:srgbClr val="FFFFFF"/>
                </a:solidFill>
                <a:latin typeface="Open Sans"/>
              </a:rPr>
              <a:t> : ninguém altera seu Parecer Social</a:t>
            </a:r>
            <a:r>
              <a:rPr sz="1320" b="0" i="0">
                <a:solidFill>
                  <a:srgbClr val="FFFFFF"/>
                </a:solidFill>
                <a:latin typeface="Open Sans"/>
              </a:rPr>
              <a:t> por acidente.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57900" y="3524250"/>
            <a:ext cx="257175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62700" y="3528268"/>
            <a:ext cx="5027741" cy="4966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Open Sans"/>
              </a:rPr>
              <a:t>Mantém a </a:t>
            </a:r>
            <a:r>
              <a:rPr sz="1320" b="1" i="0">
                <a:solidFill>
                  <a:srgbClr val="FFFFFF"/>
                </a:solidFill>
                <a:latin typeface="Open Sans"/>
              </a:rPr>
              <a:t> formatação exata</a:t>
            </a:r>
            <a:r>
              <a:rPr sz="1320" b="0" i="0">
                <a:solidFill>
                  <a:srgbClr val="FFFFFF"/>
                </a:solidFill>
                <a:latin typeface="Open Sans"/>
              </a:rPr>
              <a:t> (margens e tabelas) em qualquer</a:t>
            </a:r>
            <a:r>
              <a:rPr sz="1320" b="0" i="0">
                <a:solidFill>
                  <a:srgbClr val="FFFFFF"/>
                </a:solidFill>
                <a:latin typeface="Open Sans"/>
              </a:rPr>
              <a:t> computador ou celular.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57900" y="4333875"/>
            <a:ext cx="228600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62700" y="4331047"/>
            <a:ext cx="4566225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Open Sans"/>
              </a:rPr>
              <a:t>É o </a:t>
            </a:r>
            <a:r>
              <a:rPr sz="1320" b="1" i="0">
                <a:solidFill>
                  <a:srgbClr val="FFFFFF"/>
                </a:solidFill>
                <a:latin typeface="Open Sans"/>
              </a:rPr>
              <a:t> padrão exigido</a:t>
            </a:r>
            <a:r>
              <a:rPr sz="1320" b="0" i="0">
                <a:solidFill>
                  <a:srgbClr val="FFFFFF"/>
                </a:solidFill>
                <a:latin typeface="Open Sans"/>
              </a:rPr>
              <a:t> por Tribunais de Justiça e Ministérios.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57900" y="4962525"/>
            <a:ext cx="5448300" cy="6477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00775" y="5075336"/>
            <a:ext cx="4745682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FFD700"/>
                </a:solidFill>
                <a:latin typeface="Open Sans"/>
              </a:rPr>
              <a:t>Lembre-se:</a:t>
            </a:r>
            <a:r>
              <a:rPr sz="1200" b="0" i="1">
                <a:solidFill>
                  <a:srgbClr val="7FB3D3"/>
                </a:solidFill>
                <a:latin typeface="Open Sans"/>
              </a:rPr>
              <a:t> O PDF é como o novo papel timbrado oficial - garante</a:t>
            </a:r>
            <a:r>
              <a:rPr sz="1200" b="0" i="1">
                <a:solidFill>
                  <a:srgbClr val="7FB3D3"/>
                </a:solidFill>
                <a:latin typeface="Open Sans"/>
              </a:rPr>
              <a:t> autenticidade e integridade dos seus documentos profissionais.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8286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1041" y="228600"/>
            <a:ext cx="4569767" cy="3714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D700"/>
                </a:solidFill>
                <a:latin typeface="Montserrat"/>
              </a:rPr>
              <a:t>O pesadelo do limite de 2MB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47850"/>
            <a:ext cx="5791200" cy="415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228850"/>
            <a:ext cx="4876800" cy="3238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1200" y="1847850"/>
            <a:ext cx="5943600" cy="400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57900" y="2073026"/>
            <a:ext cx="5296197" cy="333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FFD700"/>
                </a:solidFill>
                <a:latin typeface="Montserrat"/>
              </a:rPr>
              <a:t>O Trauma do "Arquivo Muito Grande"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7900" y="2733675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62700" y="2730251"/>
            <a:ext cx="4688978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Open Sans"/>
              </a:rPr>
              <a:t>Sistemas do Governo travam se o arquivo for muito pesado.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7900" y="3267075"/>
            <a:ext cx="17145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05550" y="3264991"/>
            <a:ext cx="5275242" cy="4966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Open Sans"/>
              </a:rPr>
              <a:t>Fotos de documentos (RG, laudos) tiradas pelo celular </a:t>
            </a:r>
            <a:r>
              <a:rPr sz="1320" b="1" i="0">
                <a:solidFill>
                  <a:srgbClr val="FFFFFF"/>
                </a:solidFill>
                <a:latin typeface="Open Sans"/>
              </a:rPr>
              <a:t> explodem o</a:t>
            </a:r>
            <a:r>
              <a:rPr sz="1320" b="1" i="0">
                <a:solidFill>
                  <a:srgbClr val="FFFFFF"/>
                </a:solidFill>
                <a:latin typeface="Open Sans"/>
              </a:rPr>
              <a:t> tamanho</a:t>
            </a:r>
            <a:r>
              <a:rPr sz="1320" b="0" i="0">
                <a:solidFill>
                  <a:srgbClr val="FFFFFF"/>
                </a:solidFill>
                <a:latin typeface="Open Sans"/>
              </a:rPr>
              <a:t> do arquivo.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57900" y="4067175"/>
            <a:ext cx="22860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62700" y="4067770"/>
            <a:ext cx="5205739" cy="4966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Open Sans"/>
              </a:rPr>
              <a:t>A solução: </a:t>
            </a:r>
            <a:r>
              <a:rPr sz="1320" b="1" i="0">
                <a:solidFill>
                  <a:srgbClr val="FFFFFF"/>
                </a:solidFill>
                <a:latin typeface="Open Sans"/>
              </a:rPr>
              <a:t> Ferramentas de Compressão de PDF</a:t>
            </a:r>
            <a:r>
              <a:rPr sz="1320" b="0" i="0">
                <a:solidFill>
                  <a:srgbClr val="FFFFFF"/>
                </a:solidFill>
                <a:latin typeface="Open Sans"/>
              </a:rPr>
              <a:t> (reduzem o peso</a:t>
            </a:r>
            <a:r>
              <a:rPr sz="1320" b="0" i="0">
                <a:solidFill>
                  <a:srgbClr val="FFFFFF"/>
                </a:solidFill>
                <a:latin typeface="Open Sans"/>
              </a:rPr>
              <a:t> sem perder a leitura).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57900" y="4972050"/>
            <a:ext cx="5448300" cy="6477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00775" y="5080099"/>
            <a:ext cx="4733478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FFD700"/>
                </a:solidFill>
                <a:latin typeface="Open Sans"/>
              </a:rPr>
              <a:t>Dica Prática:</a:t>
            </a:r>
            <a:r>
              <a:rPr sz="1200" b="0" i="1">
                <a:solidFill>
                  <a:srgbClr val="7FB3D3"/>
                </a:solidFill>
                <a:latin typeface="Open Sans"/>
              </a:rPr>
              <a:t> Use ferramentas online gratuitas como SmallPDF ou</a:t>
            </a:r>
            <a:r>
              <a:rPr sz="1200" b="0" i="1">
                <a:solidFill>
                  <a:srgbClr val="7FB3D3"/>
                </a:solidFill>
                <a:latin typeface="Open Sans"/>
              </a:rPr>
              <a:t> ILovePDF para comprimir seus arquivos antes do envio.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667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45593" y="304800"/>
            <a:ext cx="6500812" cy="4095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FFD700"/>
                </a:solidFill>
                <a:latin typeface="Montserrat"/>
              </a:rPr>
              <a:t>Chega de enviar 15 anexos separados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76350"/>
            <a:ext cx="5943600" cy="51720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25475" y="1600944"/>
            <a:ext cx="4144208" cy="666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FFD700"/>
                </a:solidFill>
                <a:latin typeface="Montserrat"/>
              </a:rPr>
              <a:t>O Dossiê Unificado (Mesclar</a:t>
            </a:r>
            <a:r>
              <a:rPr sz="2160" b="1" i="0">
                <a:solidFill>
                  <a:srgbClr val="FFD700"/>
                </a:solidFill>
                <a:latin typeface="Montserrat"/>
              </a:rPr>
              <a:t> Arquivos)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" y="2638425"/>
            <a:ext cx="34290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76350" y="2629644"/>
            <a:ext cx="4860309" cy="4966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FFFFF"/>
                </a:solidFill>
                <a:latin typeface="Open Sans"/>
              </a:rPr>
              <a:t>Juízes e Promotores</a:t>
            </a:r>
            <a:r>
              <a:rPr sz="1320" b="0" i="0">
                <a:solidFill>
                  <a:srgbClr val="FFFFFF"/>
                </a:solidFill>
                <a:latin typeface="Open Sans"/>
              </a:rPr>
              <a:t> preferem ler um único arquivo contínuo</a:t>
            </a:r>
            <a:r>
              <a:rPr sz="1320" b="0" i="0">
                <a:solidFill>
                  <a:srgbClr val="FFFFFF"/>
                </a:solidFill>
                <a:latin typeface="Open Sans"/>
              </a:rPr>
              <a:t> para análise mais eficiente dos casos.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3552825"/>
            <a:ext cx="3429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76350" y="3546723"/>
            <a:ext cx="4871174" cy="4966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Open Sans"/>
              </a:rPr>
              <a:t>Como juntar o </a:t>
            </a:r>
            <a:r>
              <a:rPr sz="1320" b="1" i="0">
                <a:solidFill>
                  <a:srgbClr val="FFFFFF"/>
                </a:solidFill>
                <a:latin typeface="Open Sans"/>
              </a:rPr>
              <a:t> RG do usuário</a:t>
            </a:r>
            <a:r>
              <a:rPr sz="1320" b="0" i="0">
                <a:solidFill>
                  <a:srgbClr val="FFFFFF"/>
                </a:solidFill>
                <a:latin typeface="Open Sans"/>
              </a:rPr>
              <a:t> , o </a:t>
            </a:r>
            <a:r>
              <a:rPr sz="1320" b="1" i="0">
                <a:solidFill>
                  <a:srgbClr val="FFFFFF"/>
                </a:solidFill>
                <a:latin typeface="Open Sans"/>
              </a:rPr>
              <a:t> Comprovante de Residência</a:t>
            </a:r>
            <a:r>
              <a:rPr sz="1320" b="0" i="0">
                <a:solidFill>
                  <a:srgbClr val="FFFFFF"/>
                </a:solidFill>
                <a:latin typeface="Open Sans"/>
              </a:rPr>
              <a:t> e o seu Parecer em 1 só arquivo.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50" y="4476750"/>
            <a:ext cx="342900" cy="2381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76350" y="4463801"/>
            <a:ext cx="4616827" cy="4966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Open Sans"/>
              </a:rPr>
              <a:t>A </a:t>
            </a:r>
            <a:r>
              <a:rPr sz="1320" b="1" i="0">
                <a:solidFill>
                  <a:srgbClr val="FFFFFF"/>
                </a:solidFill>
                <a:latin typeface="Open Sans"/>
              </a:rPr>
              <a:t> organização do anexo</a:t>
            </a:r>
            <a:r>
              <a:rPr sz="1320" b="0" i="0">
                <a:solidFill>
                  <a:srgbClr val="FFFFFF"/>
                </a:solidFill>
                <a:latin typeface="Open Sans"/>
              </a:rPr>
              <a:t> demonstra o profissionalismo da</a:t>
            </a:r>
            <a:r>
              <a:rPr sz="1320" b="0" i="0">
                <a:solidFill>
                  <a:srgbClr val="FFFFFF"/>
                </a:solidFill>
                <a:latin typeface="Open Sans"/>
              </a:rPr>
              <a:t> equipe do CRAS.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050" y="5400675"/>
            <a:ext cx="5295900" cy="723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71550" y="5552330"/>
            <a:ext cx="9144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FFD700"/>
                </a:solidFill>
                <a:latin typeface="Open Sans"/>
              </a:rPr>
              <a:t>Dica Prática: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85950" y="5552330"/>
            <a:ext cx="3742878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E8E8E8"/>
                </a:solidFill>
                <a:latin typeface="Open Sans"/>
              </a:rPr>
              <a:t> Use ferramentas online gratuitas como SmallPDF 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5761880"/>
            <a:ext cx="3544192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E8E8E8"/>
                </a:solidFill>
                <a:latin typeface="Open Sans"/>
              </a:rPr>
              <a:t>ILovePDF para mesclar documentos rapidamente.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9375" y="2247900"/>
            <a:ext cx="5734050" cy="34290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86575" y="2609850"/>
            <a:ext cx="481965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667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63565" y="304800"/>
            <a:ext cx="4664868" cy="4095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FFD700"/>
                </a:solidFill>
                <a:latin typeface="Montserrat"/>
              </a:rPr>
              <a:t>A Caneta Azul Aposentada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962150"/>
            <a:ext cx="5791200" cy="396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2362200"/>
            <a:ext cx="4838700" cy="3009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1200" y="1762125"/>
            <a:ext cx="5943600" cy="42100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57900" y="1987301"/>
            <a:ext cx="3840509" cy="333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FFD700"/>
                </a:solidFill>
                <a:latin typeface="Montserrat"/>
              </a:rPr>
              <a:t>A Assinatura Digital Gov.br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7900" y="2647950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62700" y="2644526"/>
            <a:ext cx="5053339" cy="4966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Open Sans"/>
              </a:rPr>
              <a:t>Colar uma </a:t>
            </a:r>
            <a:r>
              <a:rPr sz="1320" b="1" i="0">
                <a:solidFill>
                  <a:srgbClr val="FFFFFF"/>
                </a:solidFill>
                <a:latin typeface="Open Sans"/>
              </a:rPr>
              <a:t> "foto" da sua assinatura</a:t>
            </a:r>
            <a:r>
              <a:rPr sz="1320" b="0" i="0">
                <a:solidFill>
                  <a:srgbClr val="FFFFFF"/>
                </a:solidFill>
                <a:latin typeface="Open Sans"/>
              </a:rPr>
              <a:t> no Word NÃO tem validade</a:t>
            </a:r>
            <a:r>
              <a:rPr sz="1320" b="0" i="0">
                <a:solidFill>
                  <a:srgbClr val="FFFFFF"/>
                </a:solidFill>
                <a:latin typeface="Open Sans"/>
              </a:rPr>
              <a:t> legal.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48375" y="3438525"/>
            <a:ext cx="247650" cy="247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62700" y="3447305"/>
            <a:ext cx="4745563" cy="4966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Open Sans"/>
              </a:rPr>
              <a:t>A assinatura pelo portal </a:t>
            </a:r>
            <a:r>
              <a:rPr sz="1320" b="1" i="0">
                <a:solidFill>
                  <a:srgbClr val="FFFFFF"/>
                </a:solidFill>
                <a:latin typeface="Open Sans"/>
              </a:rPr>
              <a:t> Gov.br (Prata ou Ouro)</a:t>
            </a:r>
            <a:r>
              <a:rPr sz="1320" b="0" i="0">
                <a:solidFill>
                  <a:srgbClr val="FFFFFF"/>
                </a:solidFill>
                <a:latin typeface="Open Sans"/>
              </a:rPr>
              <a:t> é gratuita e</a:t>
            </a:r>
            <a:r>
              <a:rPr sz="1320" b="0" i="0">
                <a:solidFill>
                  <a:srgbClr val="FFFFFF"/>
                </a:solidFill>
                <a:latin typeface="Open Sans"/>
              </a:rPr>
              <a:t> reconhecida em todo o Brasil.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57900" y="4248150"/>
            <a:ext cx="228600" cy="2381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62700" y="4250084"/>
            <a:ext cx="52145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Open Sans"/>
              </a:rPr>
              <a:t>O </a:t>
            </a:r>
            <a:r>
              <a:rPr sz="1320" b="1" i="0">
                <a:solidFill>
                  <a:srgbClr val="FFFFFF"/>
                </a:solidFill>
                <a:latin typeface="Open Sans"/>
              </a:rPr>
              <a:t> selo digital</a:t>
            </a:r>
            <a:r>
              <a:rPr sz="1320" b="0" i="0">
                <a:solidFill>
                  <a:srgbClr val="FFFFFF"/>
                </a:solidFill>
                <a:latin typeface="Open Sans"/>
              </a:rPr>
              <a:t> garante quem assinou e a hora exata da assinatura.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57900" y="4886325"/>
            <a:ext cx="5448300" cy="8572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00775" y="4994374"/>
            <a:ext cx="512117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FFD700"/>
                </a:solidFill>
                <a:latin typeface="Open Sans"/>
              </a:rPr>
              <a:t>Importante:</a:t>
            </a:r>
            <a:r>
              <a:rPr sz="1200" b="0" i="1">
                <a:solidFill>
                  <a:srgbClr val="7FB3D3"/>
                </a:solidFill>
                <a:latin typeface="Open Sans"/>
              </a:rPr>
              <a:t> A assinatura digital Gov.br tem a mesma validade jurídica</a:t>
            </a:r>
            <a:r>
              <a:rPr sz="1200" b="0" i="1">
                <a:solidFill>
                  <a:srgbClr val="7FB3D3"/>
                </a:solidFill>
                <a:latin typeface="Open Sans"/>
              </a:rPr>
              <a:t> de uma assinatura manuscrita, sendo reconhecida por todos os órgãos</a:t>
            </a:r>
            <a:r>
              <a:rPr sz="1200" b="0" i="1">
                <a:solidFill>
                  <a:srgbClr val="7FB3D3"/>
                </a:solidFill>
                <a:latin typeface="Open Sans"/>
              </a:rPr>
              <a:t> públicos.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524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989933" y="228600"/>
            <a:ext cx="4212133" cy="3714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D700"/>
                </a:solidFill>
                <a:latin typeface="Montserrat"/>
              </a:rPr>
              <a:t>Montando o Dossiê Digital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6900" y="1628775"/>
            <a:ext cx="8458200" cy="2200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28170" y="1955006"/>
            <a:ext cx="1935658" cy="2952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FFD700"/>
                </a:solidFill>
                <a:latin typeface="Montserrat"/>
              </a:rPr>
              <a:t>Desafio Prático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0750" y="2476500"/>
            <a:ext cx="7810500" cy="876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14885" y="2671167"/>
            <a:ext cx="740018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Open Sans"/>
              </a:rPr>
              <a:t>"Abra o Word da Aula 04, salve-o como PDF. Use uma ferramenta online para JUNTAR esse 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7303" y="2922537"/>
            <a:ext cx="5855493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FFFFFF"/>
                </a:solidFill>
                <a:latin typeface="Open Sans"/>
              </a:rPr>
              <a:t>com uma imagem qualquer. Depois, faça a COMPRESSÃO do arquivo final."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4175" y="3762375"/>
            <a:ext cx="6343650" cy="26574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80570" y="4490144"/>
            <a:ext cx="1630560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FFFFFF"/>
                </a:solidFill>
                <a:latin typeface="Montserrat"/>
              </a:rPr>
              <a:t>Mão na Massa!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14725" y="4905375"/>
            <a:ext cx="1638300" cy="838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02918" y="5031134"/>
            <a:ext cx="65782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FD700"/>
                </a:solidFill>
                <a:latin typeface="Montserrat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9860" y="5282505"/>
            <a:ext cx="1372046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FFFFFF"/>
                </a:solidFill>
                <a:latin typeface="Open Sans"/>
              </a:rPr>
              <a:t>Salvar Word como PDF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6850" y="4905375"/>
            <a:ext cx="1638300" cy="838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46440" y="5031134"/>
            <a:ext cx="98970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FD700"/>
                </a:solidFill>
                <a:latin typeface="Montserrat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8414" y="5282505"/>
            <a:ext cx="1375023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FFFFFF"/>
                </a:solidFill>
                <a:latin typeface="Open Sans"/>
              </a:rPr>
              <a:t>Mesclar PDF + Imagem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38975" y="4905375"/>
            <a:ext cx="1638300" cy="838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806332" y="5031134"/>
            <a:ext cx="99268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FD700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4839" y="5282505"/>
            <a:ext cx="1206877" cy="34929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FFFFFF"/>
                </a:solidFill>
                <a:latin typeface="Open Sans"/>
              </a:rPr>
              <a:t>Comprimir arquivo</a:t>
            </a:r>
            <a:r>
              <a:rPr sz="1019" b="0" i="0">
                <a:solidFill>
                  <a:srgbClr val="FFFFFF"/>
                </a:solidFill>
                <a:latin typeface="Open Sans"/>
              </a:rPr>
              <a:t> final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