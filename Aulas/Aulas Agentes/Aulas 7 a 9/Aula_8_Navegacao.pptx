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12"/>
    <p:sldId id="258" r:id="rId13"/>
    <p:sldId id="259" r:id="rId14"/>
    <p:sldId id="260" r:id="rId15"/>
    <p:sldId id="261" r:id="rId16"/>
  </p:sldIdLst>
  <p:sldSz cx="12192000" cy="6858000" type="screen4x3"/>
  <p:notesSz cx="6858000" cy="9144000"/>
  <p:embeddedFontLst>
    <p:embeddedFont>
      <p:font typeface="Inter" pitchFamily="2" charset="0"/>
      <p:regular r:id="rId11"/>
      <p:bold r:id="rId8"/>
      <p:italic r:id="rId10"/>
      <p:bold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971675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80220" y="2722364"/>
            <a:ext cx="7460158" cy="11105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Inter"/>
              </a:rPr>
              <a:t>Navegação Estratégica e Portais</a:t>
            </a:r>
            <a:r>
              <a:rPr sz="3600" b="1" i="0">
                <a:solidFill>
                  <a:srgbClr val="FFFFFF"/>
                </a:solidFill>
                <a:latin typeface="Inter"/>
              </a:rPr>
              <a:t> Governamentais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93405" y="4076700"/>
            <a:ext cx="5805041" cy="3238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7BB3F0"/>
                </a:solidFill>
                <a:latin typeface="Inter"/>
              </a:rPr>
              <a:t>Informática para Assistentes Sociais - Aula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8123" y="6038850"/>
            <a:ext cx="2215753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E8E8E8"/>
                </a:solidFill>
                <a:latin typeface="Inter"/>
              </a:rPr>
              <a:t>Capacitação Profissional CRAS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1601" y="6296025"/>
            <a:ext cx="368647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E8E8E8"/>
                </a:solidFill>
                <a:latin typeface="Inter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39542" y="304800"/>
            <a:ext cx="3312765" cy="3714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A90E2"/>
                </a:solidFill>
                <a:latin typeface="Inter"/>
              </a:rPr>
              <a:t>O Labirinto da Internet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24100"/>
            <a:ext cx="5791200" cy="3190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05100"/>
            <a:ext cx="4876800" cy="2276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19800" y="2495996"/>
            <a:ext cx="3737520" cy="2762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BB3F0"/>
                </a:solidFill>
                <a:latin typeface="Inter"/>
              </a:rPr>
              <a:t>Separando o oficial do "achismo"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0275" y="3105150"/>
            <a:ext cx="2476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600" y="3094136"/>
            <a:ext cx="467606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Ao pesquisar leis e normativas, fuja de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blogs não oficiais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9800" y="3609975"/>
            <a:ext cx="228600" cy="2381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4600" y="3604617"/>
            <a:ext cx="5142636" cy="4345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Confie apenas em domínios oficiais: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.gov.br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(Governo) e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.jus.br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(Justiça).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800" y="4352925"/>
            <a:ext cx="1714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7450" y="4340423"/>
            <a:ext cx="4708505" cy="4345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A informação errada em um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Parecer Social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compromete o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trabalho técnico.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66405" y="304800"/>
            <a:ext cx="4459039" cy="3714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A90E2"/>
                </a:solidFill>
                <a:latin typeface="Inter"/>
              </a:rPr>
              <a:t>O Google do Assistente Social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114550"/>
            <a:ext cx="4876800" cy="3467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300" y="2341512"/>
            <a:ext cx="4281487" cy="2762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BB3F0"/>
                </a:solidFill>
                <a:latin typeface="Inter"/>
              </a:rPr>
              <a:t>Como pesquisar como um profissional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2943225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33525" y="2941587"/>
            <a:ext cx="3820001" cy="4513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Use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Aspas ("")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para buscar termos exatos (Ex: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"violação de direitos").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711029"/>
            <a:ext cx="3997404" cy="4513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Use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site:gov.br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para o Google buscar apenas em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sites do governo.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486275"/>
            <a:ext cx="1714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4950" y="4480470"/>
            <a:ext cx="3986093" cy="4513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Use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filetype:pdf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para encontrar cartilhas e leis já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prontas para baixar.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1028700"/>
            <a:ext cx="5791200" cy="5791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1409700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14179" y="304800"/>
            <a:ext cx="4363491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4A90E2"/>
                </a:solidFill>
                <a:latin typeface="Inter"/>
              </a:rPr>
              <a:t>A Mesa de Trabalho Digital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05025"/>
            <a:ext cx="5791200" cy="3657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86025"/>
            <a:ext cx="48768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19800" y="2545258"/>
            <a:ext cx="2703165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7BB3F0"/>
                </a:solidFill>
                <a:latin typeface="Inter"/>
              </a:rPr>
              <a:t>A Barra de Favoritos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3200400"/>
            <a:ext cx="3429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38900" y="3212008"/>
            <a:ext cx="4924305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Pare de digitar o endereço do sistema do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CadÚnico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todo dia.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3733800"/>
            <a:ext cx="342900" cy="238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38900" y="3746748"/>
            <a:ext cx="4341346" cy="468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Salve os portais mais usados na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"Barra de Favoritos"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(Estrelinha).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9800" y="4533900"/>
            <a:ext cx="3429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38900" y="4549526"/>
            <a:ext cx="5050809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Crie uma pasta chamada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"Sistemas CRAS"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no seu navegador.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3042" y="304800"/>
            <a:ext cx="7325766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4A90E2"/>
                </a:solidFill>
                <a:latin typeface="Inter"/>
              </a:rPr>
              <a:t>O "Sistema Caiu" (Resolvendo Travamentos)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45258"/>
            <a:ext cx="3754933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7BB3F0"/>
                </a:solidFill>
                <a:latin typeface="Inter"/>
              </a:rPr>
              <a:t>Como limpar a casa (Cache)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00400"/>
            <a:ext cx="3429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4900" y="3212008"/>
            <a:ext cx="507358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Sistemas do governo acumulam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"lixo digital"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e param de abrir.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33800"/>
            <a:ext cx="3429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4900" y="3746748"/>
            <a:ext cx="3976717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O atalho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Ctrl + F5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força o site a carregar do zero.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67200"/>
            <a:ext cx="3429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4900" y="4281487"/>
            <a:ext cx="4932491" cy="468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Limpar o </a:t>
            </a:r>
            <a:r>
              <a:rPr sz="1320" b="1" i="0">
                <a:solidFill>
                  <a:srgbClr val="FFFFFF"/>
                </a:solidFill>
                <a:latin typeface="Inter"/>
              </a:rPr>
              <a:t> Histórico e o Cache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resolve 90% dos erros de login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nos portais.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05025"/>
            <a:ext cx="5791200" cy="3657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486025"/>
            <a:ext cx="4876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7927" y="304800"/>
            <a:ext cx="2495996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4A90E2"/>
                </a:solidFill>
                <a:latin typeface="Inter"/>
              </a:rPr>
              <a:t>Desafio Prático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8825"/>
            <a:ext cx="5791200" cy="3819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09825"/>
            <a:ext cx="4876800" cy="2905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2209800"/>
            <a:ext cx="5943600" cy="3305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57900" y="2435125"/>
            <a:ext cx="3443138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7BB3F0"/>
                </a:solidFill>
                <a:latin typeface="Inter"/>
              </a:rPr>
              <a:t>Organizando seus Portais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7900" y="3025675"/>
            <a:ext cx="5415587" cy="468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Inter"/>
              </a:rPr>
              <a:t>Agora é sua vez de colocar em prática tudo que aprendemos sobre</a:t>
            </a:r>
            <a:r>
              <a:rPr sz="1320" b="0" i="0">
                <a:solidFill>
                  <a:srgbClr val="FFFFFF"/>
                </a:solidFill>
                <a:latin typeface="Inter"/>
              </a:rPr>
              <a:t> navegação estratégica!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3762375"/>
            <a:ext cx="5448300" cy="1524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9825" y="3942754"/>
            <a:ext cx="5164044" cy="11459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4" b="1" i="0">
                <a:solidFill>
                  <a:srgbClr val="E8E8E8"/>
                </a:solidFill>
                <a:latin typeface="Inter"/>
              </a:rPr>
              <a:t>Ative a Barra de Favoritos.</a:t>
            </a:r>
            <a:r>
              <a:rPr sz="1254" b="0" i="0">
                <a:solidFill>
                  <a:srgbClr val="E8E8E8"/>
                </a:solidFill>
                <a:latin typeface="Inter"/>
              </a:rPr>
              <a:t> Crie uma pasta chamada </a:t>
            </a:r>
            <a:r>
              <a:rPr sz="1254" b="1" i="0">
                <a:solidFill>
                  <a:srgbClr val="FFA726"/>
                </a:solidFill>
                <a:latin typeface="Inter"/>
              </a:rPr>
              <a:t> 'Sistemas</a:t>
            </a:r>
            <a:r>
              <a:rPr sz="1254" b="1" i="0">
                <a:solidFill>
                  <a:srgbClr val="FFA726"/>
                </a:solidFill>
                <a:latin typeface="Inter"/>
              </a:rPr>
              <a:t> SUAS'</a:t>
            </a:r>
            <a:r>
              <a:rPr sz="1254" b="0" i="0">
                <a:solidFill>
                  <a:srgbClr val="E8E8E8"/>
                </a:solidFill>
                <a:latin typeface="Inter"/>
              </a:rPr>
              <a:t> .</a:t>
            </a:r>
            <a:r>
              <a:rPr sz="1254" b="0" i="0">
                <a:solidFill>
                  <a:srgbClr val="E8E8E8"/>
                </a:solidFill>
                <a:latin typeface="Inter"/>
              </a:rPr>
              <a:t> Use a pesquisa avançada para achar o </a:t>
            </a:r>
            <a:r>
              <a:rPr sz="1254" b="1" i="0">
                <a:solidFill>
                  <a:srgbClr val="FFA726"/>
                </a:solidFill>
                <a:latin typeface="Inter"/>
              </a:rPr>
              <a:t> ECA em PDF</a:t>
            </a:r>
            <a:r>
              <a:rPr sz="1254" b="0" i="0">
                <a:solidFill>
                  <a:srgbClr val="E8E8E8"/>
                </a:solidFill>
                <a:latin typeface="Inter"/>
              </a:rPr>
              <a:t> , abra o arquivo</a:t>
            </a:r>
            <a:r>
              <a:rPr sz="1254" b="0" i="0">
                <a:solidFill>
                  <a:srgbClr val="E8E8E8"/>
                </a:solidFill>
                <a:latin typeface="Inter"/>
              </a:rPr>
              <a:t> e salve nos seus favoritos.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