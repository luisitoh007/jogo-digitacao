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6"/>
    <p:sldId id="258" r:id="rId17"/>
    <p:sldId id="259" r:id="rId18"/>
    <p:sldId id="260" r:id="rId19"/>
    <p:sldId id="261" r:id="rId20"/>
  </p:sldIdLst>
  <p:sldSz cx="12192000" cy="6858000" type="screen4x3"/>
  <p:notesSz cx="6858000" cy="9144000"/>
  <p:embeddedFontLst>
    <p:embeddedFont>
      <p:font typeface="Montserrat" pitchFamily="2" charset="0"/>
      <p:regular r:id="rId11"/>
      <p:bold r:id="rId8"/>
      <p:italic r:id="rId10"/>
      <p:boldItalic r:id="rId9"/>
    </p:embeddedFont>
    <p:embeddedFont>
      <p:font typeface="Open Sans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200025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1463" y="2751832"/>
            <a:ext cx="9477523" cy="1101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Comunicação Visual e Autonomia com</a:t>
            </a:r>
            <a:r>
              <a:rPr sz="3600" b="1" i="0">
                <a:solidFill>
                  <a:srgbClr val="FFFFFF"/>
                </a:solidFill>
                <a:latin typeface="Montserrat"/>
              </a:rPr>
              <a:t> Canva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2443" y="4087117"/>
            <a:ext cx="3566963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8C5D1"/>
                </a:solidFill>
                <a:latin typeface="Open Sans"/>
              </a:rPr>
              <a:t>Informática para o CRAS - Aula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4035" y="5981700"/>
            <a:ext cx="238392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Open Sans"/>
              </a:rPr>
              <a:t>Assistentes Sociais e Equipe CRAS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1573" y="6267450"/>
            <a:ext cx="34870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BA8"/>
                </a:solidFill>
                <a:latin typeface="Open Sans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2284" y="304800"/>
            <a:ext cx="6587281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4A90E2"/>
                </a:solidFill>
                <a:latin typeface="Montserrat"/>
              </a:rPr>
              <a:t>A primeira impressão da comunidade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0" y="1143000"/>
            <a:ext cx="4076700" cy="5524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695450"/>
            <a:ext cx="2743200" cy="274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169545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56594" y="4855071"/>
            <a:ext cx="2800230" cy="98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39C12"/>
                </a:solidFill>
                <a:latin typeface="Open Sans"/>
              </a:rPr>
              <a:t>Comunicados feitos no Word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e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fotografados perdem credibilidade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e transmitem uma imagem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amadora para a comunidade.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850" y="1143000"/>
            <a:ext cx="4076700" cy="552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1695450"/>
            <a:ext cx="2743200" cy="2743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169545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6248" y="4729311"/>
            <a:ext cx="2445722" cy="12340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39C12"/>
                </a:solidFill>
                <a:latin typeface="Open Sans"/>
              </a:rPr>
              <a:t>O Canva permite criar artes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profissionais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sem precisar ser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designer, ganhando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independência da gráfica da</a:t>
            </a:r>
            <a:r>
              <a:rPr sz="1320" b="0" i="0">
                <a:solidFill>
                  <a:srgbClr val="E8E8E8"/>
                </a:solidFill>
                <a:latin typeface="Open Sans"/>
              </a:rPr>
              <a:t> prefeitura.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64644" y="304800"/>
            <a:ext cx="4062561" cy="4667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Não comece do zero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71650"/>
            <a:ext cx="5943600" cy="424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1998612"/>
            <a:ext cx="4812059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4A90E2"/>
                </a:solidFill>
                <a:latin typeface="Montserrat"/>
              </a:rPr>
              <a:t>O Poder dos Modelos (Templates)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647950"/>
            <a:ext cx="3429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1100" y="2646312"/>
            <a:ext cx="4100244" cy="479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O Canva possui 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milhares de modelos prontos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para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"Comunicados", "Convites" e "Avisos".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467100"/>
            <a:ext cx="3429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3453854"/>
            <a:ext cx="4994255" cy="479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Basta escolher um modelo pronto e 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alterar apenas o texto e a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data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4276725"/>
            <a:ext cx="3429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100" y="4261395"/>
            <a:ext cx="4723090" cy="479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Ideal para campanhas como o 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"Faça Bonito"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ou 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"Setembro</a:t>
            </a:r>
            <a:r>
              <a:rPr sz="1320" b="1" i="0">
                <a:solidFill>
                  <a:srgbClr val="F39C12"/>
                </a:solidFill>
                <a:latin typeface="Open Sans"/>
              </a:rPr>
              <a:t> Amarelo"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5133975"/>
            <a:ext cx="5448300" cy="647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6775" y="5249912"/>
            <a:ext cx="4645967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8E8E8"/>
                </a:solidFill>
                <a:latin typeface="Open Sans"/>
              </a:rPr>
              <a:t>Dica:</a:t>
            </a:r>
            <a:r>
              <a:rPr sz="1200" b="0" i="1">
                <a:solidFill>
                  <a:srgbClr val="E8E8E8"/>
                </a:solidFill>
                <a:latin typeface="Open Sans"/>
              </a:rPr>
              <a:t> Economize tempo e garanta qualidade profissional usando</a:t>
            </a:r>
            <a:r>
              <a:rPr sz="1200" b="0" i="1">
                <a:solidFill>
                  <a:srgbClr val="E8E8E8"/>
                </a:solidFill>
                <a:latin typeface="Open Sans"/>
              </a:rPr>
              <a:t> templates como ponto de partida.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2009775"/>
            <a:ext cx="5448300" cy="3848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257425"/>
            <a:ext cx="48768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86707" y="304800"/>
            <a:ext cx="5818584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4A90E2"/>
                </a:solidFill>
                <a:latin typeface="Montserrat"/>
              </a:rPr>
              <a:t>Mantendo a postura institucional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4975"/>
            <a:ext cx="5791200" cy="447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85975"/>
            <a:ext cx="4876800" cy="3562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9800" y="2008137"/>
            <a:ext cx="3826668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39C12"/>
                </a:solidFill>
                <a:latin typeface="Montserrat"/>
              </a:rPr>
              <a:t>Identidade Visual do CRAS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266700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600" y="2655837"/>
            <a:ext cx="4905553" cy="479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Use sempre as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cores oficiais da Prefeitura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(ex: Azul e Branco)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para manter consistência institucional.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343852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600" y="3425279"/>
            <a:ext cx="4648676" cy="479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Cuidado com o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excesso de elementos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: menos é mais para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comunicação clara e profissional.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421005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4600" y="4194720"/>
            <a:ext cx="5263931" cy="479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Nunca esqueça de incluir as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logomarcas oficiais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(Prefeitura, SUAS,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Governo Federal).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5067300"/>
            <a:ext cx="5486400" cy="647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183237"/>
            <a:ext cx="5195589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7F8C8D"/>
                </a:solidFill>
                <a:latin typeface="Open Sans"/>
              </a:rPr>
              <a:t>Dica:</a:t>
            </a:r>
            <a:r>
              <a:rPr sz="1200" b="0" i="1">
                <a:solidFill>
                  <a:srgbClr val="7F8C8D"/>
                </a:solidFill>
                <a:latin typeface="Open Sans"/>
              </a:rPr>
              <a:t> A identidade visual institucional transmite credibilidade e fortalece</a:t>
            </a:r>
            <a:r>
              <a:rPr sz="1200" b="0" i="1">
                <a:solidFill>
                  <a:srgbClr val="7F8C8D"/>
                </a:solidFill>
                <a:latin typeface="Open Sans"/>
              </a:rPr>
              <a:t> a confiança da comunidade nos serviços do CRAS.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79786" y="228600"/>
            <a:ext cx="7032277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A90E2"/>
                </a:solidFill>
                <a:latin typeface="Montserrat"/>
              </a:rPr>
              <a:t>Do computador para o WhatsApp da família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575" y="762000"/>
            <a:ext cx="4524375" cy="2771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325" y="1009650"/>
            <a:ext cx="3952875" cy="2200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525" y="3771900"/>
            <a:ext cx="6848475" cy="2428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17950" y="3958530"/>
            <a:ext cx="3594199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4A90E2"/>
                </a:solidFill>
                <a:latin typeface="Montserrat"/>
              </a:rPr>
              <a:t>Exportando para o Território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5125" y="4448175"/>
            <a:ext cx="2571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72432" y="4444305"/>
            <a:ext cx="5279677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Open Sans"/>
              </a:rPr>
              <a:t>Artes para impressão devem ser salvas em formato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PDF para Impressão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5125" y="4848225"/>
            <a:ext cx="2571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72432" y="4848076"/>
            <a:ext cx="5340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Open Sans"/>
              </a:rPr>
              <a:t>Artes para enviar no WhatsApp devem ser salvas em formato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PNG ou JPG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5125" y="5267325"/>
            <a:ext cx="2571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72432" y="5251846"/>
            <a:ext cx="5258246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Open Sans"/>
              </a:rPr>
              <a:t>Envie diretamente para o seu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WhatsApp Web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para distribuição imediata.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125" y="5657850"/>
            <a:ext cx="642937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05435" y="5731817"/>
            <a:ext cx="632019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1">
                <a:solidFill>
                  <a:srgbClr val="E8E8E8"/>
                </a:solidFill>
                <a:latin typeface="Open Sans"/>
              </a:rPr>
              <a:t>Dica:</a:t>
            </a:r>
            <a:r>
              <a:rPr sz="1139" b="0" i="1">
                <a:solidFill>
                  <a:srgbClr val="E8E8E8"/>
                </a:solidFill>
                <a:latin typeface="Open Sans"/>
              </a:rPr>
              <a:t> Use o formato correto para cada finalidade e alcance a comunidade de forma eficiente.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0054" y="304800"/>
            <a:ext cx="5131891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4A90E2"/>
                </a:solidFill>
                <a:latin typeface="Montserrat"/>
              </a:rPr>
              <a:t>Criando seu Primeiro Convite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28750"/>
            <a:ext cx="59436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7300" y="1731466"/>
            <a:ext cx="2177950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39C12"/>
                </a:solidFill>
                <a:latin typeface="Montserrat"/>
              </a:rPr>
              <a:t>Desafio Prático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1752600"/>
            <a:ext cx="36195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295525"/>
            <a:ext cx="5295900" cy="1304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50" y="2560141"/>
            <a:ext cx="4679602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Abra o Canva. Procure por 'Convite Reunião'. Altere as 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828180"/>
            <a:ext cx="460012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para o padrão da prefeitura, insira a data e salve a imagem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3096220"/>
            <a:ext cx="2262782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em PNG no seu computador.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819525"/>
            <a:ext cx="52959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393382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2300" y="3964334"/>
            <a:ext cx="6980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875" y="3945284"/>
            <a:ext cx="2230933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8E8"/>
                </a:solidFill>
                <a:latin typeface="Open Sans"/>
              </a:rPr>
              <a:t>Acesse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canva.com</a:t>
            </a:r>
            <a:r>
              <a:rPr sz="1200" b="0" i="0">
                <a:solidFill>
                  <a:srgbClr val="E8E8E8"/>
                </a:solidFill>
                <a:latin typeface="Open Sans"/>
              </a:rPr>
              <a:t> e faça login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391025"/>
            <a:ext cx="52959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450532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2300" y="4535834"/>
            <a:ext cx="6980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875" y="4516784"/>
            <a:ext cx="2272903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8E8"/>
                </a:solidFill>
                <a:latin typeface="Open Sans"/>
              </a:rPr>
              <a:t>Busque por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"Convite Reunião"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962525"/>
            <a:ext cx="5295900" cy="457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5076825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2300" y="5107334"/>
            <a:ext cx="6980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75" y="5088284"/>
            <a:ext cx="2681287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8E8"/>
                </a:solidFill>
                <a:latin typeface="Open Sans"/>
              </a:rPr>
              <a:t>Personalize com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cores da prefeitura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534025"/>
            <a:ext cx="5295900" cy="457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5648325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2300" y="5678834"/>
            <a:ext cx="6980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75" y="5659784"/>
            <a:ext cx="1733252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8E8"/>
                </a:solidFill>
                <a:latin typeface="Open Sans"/>
              </a:rPr>
              <a:t>Baixe em </a:t>
            </a:r>
            <a:r>
              <a:rPr sz="1200" b="1" i="0">
                <a:solidFill>
                  <a:srgbClr val="F39C12"/>
                </a:solidFill>
                <a:latin typeface="Open Sans"/>
              </a:rPr>
              <a:t> formato PNG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2247900"/>
            <a:ext cx="5448300" cy="3314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49555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